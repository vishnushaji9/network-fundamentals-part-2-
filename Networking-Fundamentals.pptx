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Kanit Light"/>
      <p:regular r:id="rId17"/>
    </p:embeddedFont>
    <p:embeddedFont>
      <p:font typeface="Kanit Light"/>
      <p:regular r:id="rId18"/>
    </p:embeddedFont>
    <p:embeddedFont>
      <p:font typeface="Kanit Light"/>
      <p:regular r:id="rId19"/>
    </p:embeddedFont>
    <p:embeddedFont>
      <p:font typeface="Kanit Light"/>
      <p:regular r:id="rId20"/>
    </p:embeddedFont>
    <p:embeddedFont>
      <p:font typeface="Martel Sans"/>
      <p:regular r:id="rId21"/>
    </p:embeddedFont>
    <p:embeddedFont>
      <p:font typeface="Martel Sans"/>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BF4F3"/>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8.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image" Target="../media/image-8-4.svg"/><Relationship Id="rId5" Type="http://schemas.openxmlformats.org/officeDocument/2006/relationships/image" Target="../media/image-8-5.png"/><Relationship Id="rId6" Type="http://schemas.openxmlformats.org/officeDocument/2006/relationships/image" Target="../media/image-8-6.svg"/><Relationship Id="rId7" Type="http://schemas.openxmlformats.org/officeDocument/2006/relationships/image" Target="../media/image-8-7.png"/><Relationship Id="rId8" Type="http://schemas.openxmlformats.org/officeDocument/2006/relationships/image" Target="../media/image-8-8.svg"/><Relationship Id="rId9" Type="http://schemas.openxmlformats.org/officeDocument/2006/relationships/slideLayout" Target="../slideLayouts/slideLayout9.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3227427"/>
            <a:ext cx="6515219"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Networking Fundamentals</a:t>
            </a:r>
            <a:endParaRPr lang="en-US" sz="4450" dirty="0"/>
          </a:p>
        </p:txBody>
      </p:sp>
      <p:sp>
        <p:nvSpPr>
          <p:cNvPr id="4" name="Text 1"/>
          <p:cNvSpPr/>
          <p:nvPr/>
        </p:nvSpPr>
        <p:spPr>
          <a:xfrm>
            <a:off x="6280190" y="4276368"/>
            <a:ext cx="7556421"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Understanding IP addresses, MAC addresses, subnetting, security protocols, and network protection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934528"/>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What is an IP Address?</a:t>
            </a:r>
            <a:endParaRPr lang="en-US" sz="4450" dirty="0"/>
          </a:p>
        </p:txBody>
      </p:sp>
      <p:sp>
        <p:nvSpPr>
          <p:cNvPr id="3" name="Text 1"/>
          <p:cNvSpPr/>
          <p:nvPr/>
        </p:nvSpPr>
        <p:spPr>
          <a:xfrm>
            <a:off x="793790" y="3096935"/>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IP address stands for internet protocol. It's a unique number that identifies network-connected devices.</a:t>
            </a:r>
            <a:endParaRPr lang="en-US" sz="1750" dirty="0"/>
          </a:p>
        </p:txBody>
      </p:sp>
      <p:sp>
        <p:nvSpPr>
          <p:cNvPr id="4" name="Text 2"/>
          <p:cNvSpPr/>
          <p:nvPr/>
        </p:nvSpPr>
        <p:spPr>
          <a:xfrm>
            <a:off x="793790" y="3714988"/>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192.168.0.2 IP address dividing 4 Octect or dotted representing.</a:t>
            </a:r>
            <a:endParaRPr lang="en-US" sz="1750" dirty="0"/>
          </a:p>
        </p:txBody>
      </p:sp>
      <p:sp>
        <p:nvSpPr>
          <p:cNvPr id="5" name="Text 3"/>
          <p:cNvSpPr/>
          <p:nvPr/>
        </p:nvSpPr>
        <p:spPr>
          <a:xfrm>
            <a:off x="793790" y="4333042"/>
            <a:ext cx="13042821"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Two parts of IP address: Network part and Host part.</a:t>
            </a:r>
            <a:endParaRPr lang="en-US" sz="1750" dirty="0"/>
          </a:p>
        </p:txBody>
      </p:sp>
      <p:sp>
        <p:nvSpPr>
          <p:cNvPr id="6" name="Text 4"/>
          <p:cNvSpPr/>
          <p:nvPr/>
        </p:nvSpPr>
        <p:spPr>
          <a:xfrm>
            <a:off x="793790" y="4951095"/>
            <a:ext cx="13042821"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Example:</a:t>
            </a:r>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 Like your home wifi 192.168.0.1, laptop 192.168.0.2, printer 192.168.0.3, mobile.</a:t>
            </a:r>
            <a:endParaRPr lang="en-US" sz="1750" dirty="0"/>
          </a:p>
        </p:txBody>
      </p:sp>
      <p:sp>
        <p:nvSpPr>
          <p:cNvPr id="7" name="Text 5"/>
          <p:cNvSpPr/>
          <p:nvPr/>
        </p:nvSpPr>
        <p:spPr>
          <a:xfrm>
            <a:off x="793790" y="5569148"/>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This IP address is considered first 3 parts is network part and last part host part or (how many devices connected that network).</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2497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Types of IP Address</a:t>
            </a:r>
            <a:endParaRPr lang="en-US" sz="4450" dirty="0"/>
          </a:p>
        </p:txBody>
      </p:sp>
      <p:sp>
        <p:nvSpPr>
          <p:cNvPr id="3" name="Shape 1"/>
          <p:cNvSpPr/>
          <p:nvPr/>
        </p:nvSpPr>
        <p:spPr>
          <a:xfrm>
            <a:off x="793790" y="1887379"/>
            <a:ext cx="6407944" cy="2410897"/>
          </a:xfrm>
          <a:prstGeom prst="roundRect">
            <a:avLst>
              <a:gd name="adj" fmla="val 3952"/>
            </a:avLst>
          </a:prstGeom>
          <a:solidFill>
            <a:srgbClr val="DFECE9"/>
          </a:solidFill>
          <a:ln w="7620">
            <a:solidFill>
              <a:srgbClr val="C5D2CF"/>
            </a:solidFill>
            <a:prstDash val="solid"/>
          </a:ln>
        </p:spPr>
      </p:sp>
      <p:sp>
        <p:nvSpPr>
          <p:cNvPr id="4" name="Text 2"/>
          <p:cNvSpPr/>
          <p:nvPr/>
        </p:nvSpPr>
        <p:spPr>
          <a:xfrm>
            <a:off x="1028224" y="2121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3249"/>
                </a:solidFill>
                <a:latin typeface="Kanit Light" pitchFamily="34" charset="0"/>
                <a:ea typeface="Kanit Light" pitchFamily="34" charset="-122"/>
                <a:cs typeface="Kanit Light" pitchFamily="34" charset="-120"/>
              </a:rPr>
              <a:t>Public IP</a:t>
            </a:r>
            <a:endParaRPr lang="en-US" sz="2200" dirty="0"/>
          </a:p>
        </p:txBody>
      </p:sp>
      <p:sp>
        <p:nvSpPr>
          <p:cNvPr id="5" name="Text 3"/>
          <p:cNvSpPr/>
          <p:nvPr/>
        </p:nvSpPr>
        <p:spPr>
          <a:xfrm>
            <a:off x="1028224" y="2612231"/>
            <a:ext cx="5939076" cy="1451610"/>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This is the address assigned to your network router by your Internet Service Provider (ISP). It is unique across the entire internet and is how the outside world identifies your home or business.</a:t>
            </a:r>
            <a:endParaRPr lang="en-US" sz="1750" dirty="0"/>
          </a:p>
        </p:txBody>
      </p:sp>
      <p:sp>
        <p:nvSpPr>
          <p:cNvPr id="6" name="Shape 4"/>
          <p:cNvSpPr/>
          <p:nvPr/>
        </p:nvSpPr>
        <p:spPr>
          <a:xfrm>
            <a:off x="7428548" y="1887379"/>
            <a:ext cx="6408063" cy="2410897"/>
          </a:xfrm>
          <a:prstGeom prst="roundRect">
            <a:avLst>
              <a:gd name="adj" fmla="val 3952"/>
            </a:avLst>
          </a:prstGeom>
          <a:solidFill>
            <a:srgbClr val="DFECE9"/>
          </a:solidFill>
          <a:ln w="7620">
            <a:solidFill>
              <a:srgbClr val="C5D2CF"/>
            </a:solidFill>
            <a:prstDash val="solid"/>
          </a:ln>
        </p:spPr>
      </p:sp>
      <p:sp>
        <p:nvSpPr>
          <p:cNvPr id="7" name="Text 5"/>
          <p:cNvSpPr/>
          <p:nvPr/>
        </p:nvSpPr>
        <p:spPr>
          <a:xfrm>
            <a:off x="7662982" y="2121813"/>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3249"/>
                </a:solidFill>
                <a:latin typeface="Kanit Light" pitchFamily="34" charset="0"/>
                <a:ea typeface="Kanit Light" pitchFamily="34" charset="-122"/>
                <a:cs typeface="Kanit Light" pitchFamily="34" charset="-120"/>
              </a:rPr>
              <a:t>Private IP</a:t>
            </a:r>
            <a:endParaRPr lang="en-US" sz="2200" dirty="0"/>
          </a:p>
        </p:txBody>
      </p:sp>
      <p:sp>
        <p:nvSpPr>
          <p:cNvPr id="8" name="Text 6"/>
          <p:cNvSpPr/>
          <p:nvPr/>
        </p:nvSpPr>
        <p:spPr>
          <a:xfrm>
            <a:off x="7662982" y="2612231"/>
            <a:ext cx="5939195" cy="1451610"/>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This is the address your router assigns to your specific devices (phone, laptop, smart fridge) within your local network. These aren't visible to the internet; they stay within your local network.</a:t>
            </a:r>
            <a:endParaRPr lang="en-US" sz="1750" dirty="0"/>
          </a:p>
        </p:txBody>
      </p:sp>
      <p:sp>
        <p:nvSpPr>
          <p:cNvPr id="9" name="Text 7"/>
          <p:cNvSpPr/>
          <p:nvPr/>
        </p:nvSpPr>
        <p:spPr>
          <a:xfrm>
            <a:off x="793790" y="4638437"/>
            <a:ext cx="3402330" cy="425291"/>
          </a:xfrm>
          <a:prstGeom prst="rect">
            <a:avLst/>
          </a:prstGeom>
          <a:noFill/>
          <a:ln/>
        </p:spPr>
        <p:txBody>
          <a:bodyPr wrap="none" lIns="0" tIns="0" rIns="0" bIns="0" rtlCol="0" anchor="t"/>
          <a:lstStyle/>
          <a:p>
            <a:pPr algn="l" indent="0" marL="0">
              <a:lnSpc>
                <a:spcPts val="3300"/>
              </a:lnSpc>
              <a:buNone/>
            </a:pPr>
            <a:r>
              <a:rPr lang="en-US" sz="2650" dirty="0">
                <a:solidFill>
                  <a:srgbClr val="272D45"/>
                </a:solidFill>
                <a:latin typeface="Kanit Light" pitchFamily="34" charset="0"/>
                <a:ea typeface="Kanit Light" pitchFamily="34" charset="-122"/>
                <a:cs typeface="Kanit Light" pitchFamily="34" charset="-120"/>
              </a:rPr>
              <a:t>Dynamic vs Static</a:t>
            </a:r>
            <a:endParaRPr lang="en-US" sz="2650" dirty="0"/>
          </a:p>
        </p:txBody>
      </p:sp>
      <p:sp>
        <p:nvSpPr>
          <p:cNvPr id="10" name="Text 8"/>
          <p:cNvSpPr/>
          <p:nvPr/>
        </p:nvSpPr>
        <p:spPr>
          <a:xfrm>
            <a:off x="793790" y="563070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Dynamic</a:t>
            </a:r>
            <a:endParaRPr lang="en-US" sz="2200" dirty="0"/>
          </a:p>
        </p:txBody>
      </p:sp>
      <p:sp>
        <p:nvSpPr>
          <p:cNvPr id="11" name="Text 9"/>
          <p:cNvSpPr/>
          <p:nvPr/>
        </p:nvSpPr>
        <p:spPr>
          <a:xfrm>
            <a:off x="793790" y="6211848"/>
            <a:ext cx="6244709" cy="1088708"/>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Changed automatically by the network (via DHCP). Most common for home users. Standard browsing, smartphones.</a:t>
            </a:r>
            <a:endParaRPr lang="en-US" sz="1750" dirty="0"/>
          </a:p>
        </p:txBody>
      </p:sp>
      <p:sp>
        <p:nvSpPr>
          <p:cNvPr id="12" name="Text 10"/>
          <p:cNvSpPr/>
          <p:nvPr/>
        </p:nvSpPr>
        <p:spPr>
          <a:xfrm>
            <a:off x="7599521" y="5630704"/>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Static</a:t>
            </a:r>
            <a:endParaRPr lang="en-US" sz="2200" dirty="0"/>
          </a:p>
        </p:txBody>
      </p:sp>
      <p:sp>
        <p:nvSpPr>
          <p:cNvPr id="13" name="Text 11"/>
          <p:cNvSpPr/>
          <p:nvPr/>
        </p:nvSpPr>
        <p:spPr>
          <a:xfrm>
            <a:off x="7599521" y="6211848"/>
            <a:ext cx="6244709"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Manually assigned and never changes. Usually costs extra from an ISP. Hosting servers, gaming, or VoIP services.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532221" y="1275755"/>
            <a:ext cx="3465909" cy="433149"/>
          </a:xfrm>
          <a:prstGeom prst="rect">
            <a:avLst/>
          </a:prstGeom>
          <a:noFill/>
          <a:ln/>
        </p:spPr>
        <p:txBody>
          <a:bodyPr wrap="none" lIns="0" tIns="0" rIns="0" bIns="0" rtlCol="0" anchor="t"/>
          <a:lstStyle/>
          <a:p>
            <a:pPr algn="l" indent="0" marL="0">
              <a:lnSpc>
                <a:spcPts val="3400"/>
              </a:lnSpc>
              <a:buNone/>
            </a:pPr>
            <a:r>
              <a:rPr lang="en-US" sz="2700" dirty="0">
                <a:solidFill>
                  <a:srgbClr val="272D45"/>
                </a:solidFill>
                <a:latin typeface="Kanit Light" pitchFamily="34" charset="0"/>
                <a:ea typeface="Kanit Light" pitchFamily="34" charset="-122"/>
                <a:cs typeface="Kanit Light" pitchFamily="34" charset="-120"/>
              </a:rPr>
              <a:t>IPv4 vs IPv6</a:t>
            </a:r>
            <a:endParaRPr lang="en-US" sz="2700" dirty="0"/>
          </a:p>
        </p:txBody>
      </p:sp>
      <p:sp>
        <p:nvSpPr>
          <p:cNvPr id="3" name="Shape 1"/>
          <p:cNvSpPr/>
          <p:nvPr/>
        </p:nvSpPr>
        <p:spPr>
          <a:xfrm>
            <a:off x="2532221" y="1878330"/>
            <a:ext cx="9565958" cy="2083832"/>
          </a:xfrm>
          <a:prstGeom prst="roundRect">
            <a:avLst>
              <a:gd name="adj" fmla="val 2794"/>
            </a:avLst>
          </a:prstGeom>
          <a:noFill/>
          <a:ln w="7620">
            <a:solidFill>
              <a:srgbClr val="000000">
                <a:alpha val="8000"/>
              </a:srgbClr>
            </a:solidFill>
            <a:prstDash val="solid"/>
          </a:ln>
        </p:spPr>
      </p:sp>
      <p:sp>
        <p:nvSpPr>
          <p:cNvPr id="4" name="Shape 2"/>
          <p:cNvSpPr/>
          <p:nvPr/>
        </p:nvSpPr>
        <p:spPr>
          <a:xfrm>
            <a:off x="2539841" y="1885950"/>
            <a:ext cx="9550718" cy="295513"/>
          </a:xfrm>
          <a:prstGeom prst="rect">
            <a:avLst/>
          </a:prstGeom>
          <a:solidFill>
            <a:srgbClr val="FFFFFF">
              <a:alpha val="4000"/>
            </a:srgbClr>
          </a:solidFill>
          <a:ln/>
        </p:spPr>
      </p:sp>
      <p:sp>
        <p:nvSpPr>
          <p:cNvPr id="5" name="Text 3"/>
          <p:cNvSpPr/>
          <p:nvPr/>
        </p:nvSpPr>
        <p:spPr>
          <a:xfrm>
            <a:off x="2678668" y="1944410"/>
            <a:ext cx="2584133" cy="178594"/>
          </a:xfrm>
          <a:prstGeom prst="rect">
            <a:avLst/>
          </a:prstGeom>
          <a:noFill/>
          <a:ln/>
        </p:spPr>
        <p:txBody>
          <a:bodyPr wrap="none" lIns="0" tIns="0" rIns="0" bIns="0" rtlCol="0" anchor="t"/>
          <a:lstStyle/>
          <a:p>
            <a:pPr algn="l" indent="0" marL="0">
              <a:lnSpc>
                <a:spcPts val="1400"/>
              </a:lnSpc>
              <a:buNone/>
            </a:pPr>
            <a:r>
              <a:rPr lang="en-US" sz="1050" b="1" dirty="0">
                <a:solidFill>
                  <a:srgbClr val="2C3249"/>
                </a:solidFill>
                <a:latin typeface="Martel Sans" pitchFamily="34" charset="0"/>
                <a:ea typeface="Martel Sans" pitchFamily="34" charset="-122"/>
                <a:cs typeface="Martel Sans" pitchFamily="34" charset="-120"/>
              </a:rPr>
              <a:t>Feature</a:t>
            </a:r>
            <a:endParaRPr lang="en-US" sz="1050" dirty="0"/>
          </a:p>
        </p:txBody>
      </p:sp>
      <p:sp>
        <p:nvSpPr>
          <p:cNvPr id="6" name="Text 4"/>
          <p:cNvSpPr/>
          <p:nvPr/>
        </p:nvSpPr>
        <p:spPr>
          <a:xfrm>
            <a:off x="5547598" y="1944410"/>
            <a:ext cx="3057882" cy="178594"/>
          </a:xfrm>
          <a:prstGeom prst="rect">
            <a:avLst/>
          </a:prstGeom>
          <a:noFill/>
          <a:ln/>
        </p:spPr>
        <p:txBody>
          <a:bodyPr wrap="none" lIns="0" tIns="0" rIns="0" bIns="0" rtlCol="0" anchor="t"/>
          <a:lstStyle/>
          <a:p>
            <a:pPr algn="l" indent="0" marL="0">
              <a:lnSpc>
                <a:spcPts val="1400"/>
              </a:lnSpc>
              <a:buNone/>
            </a:pPr>
            <a:r>
              <a:rPr lang="en-US" sz="1050" b="1" dirty="0">
                <a:solidFill>
                  <a:srgbClr val="2C3249"/>
                </a:solidFill>
                <a:latin typeface="Martel Sans" pitchFamily="34" charset="0"/>
                <a:ea typeface="Martel Sans" pitchFamily="34" charset="-122"/>
                <a:cs typeface="Martel Sans" pitchFamily="34" charset="-120"/>
              </a:rPr>
              <a:t>IPv4</a:t>
            </a:r>
            <a:endParaRPr lang="en-US" sz="1050" dirty="0"/>
          </a:p>
        </p:txBody>
      </p:sp>
      <p:sp>
        <p:nvSpPr>
          <p:cNvPr id="7" name="Text 5"/>
          <p:cNvSpPr/>
          <p:nvPr/>
        </p:nvSpPr>
        <p:spPr>
          <a:xfrm>
            <a:off x="8890278" y="1944410"/>
            <a:ext cx="3061692" cy="178594"/>
          </a:xfrm>
          <a:prstGeom prst="rect">
            <a:avLst/>
          </a:prstGeom>
          <a:noFill/>
          <a:ln/>
        </p:spPr>
        <p:txBody>
          <a:bodyPr wrap="none" lIns="0" tIns="0" rIns="0" bIns="0" rtlCol="0" anchor="t"/>
          <a:lstStyle/>
          <a:p>
            <a:pPr algn="l" indent="0" marL="0">
              <a:lnSpc>
                <a:spcPts val="1400"/>
              </a:lnSpc>
              <a:buNone/>
            </a:pPr>
            <a:r>
              <a:rPr lang="en-US" sz="1050" b="1" dirty="0">
                <a:solidFill>
                  <a:srgbClr val="2C3249"/>
                </a:solidFill>
                <a:latin typeface="Martel Sans" pitchFamily="34" charset="0"/>
                <a:ea typeface="Martel Sans" pitchFamily="34" charset="-122"/>
                <a:cs typeface="Martel Sans" pitchFamily="34" charset="-120"/>
              </a:rPr>
              <a:t>IPv6</a:t>
            </a:r>
            <a:endParaRPr lang="en-US" sz="1050" dirty="0"/>
          </a:p>
        </p:txBody>
      </p:sp>
      <p:sp>
        <p:nvSpPr>
          <p:cNvPr id="8" name="Shape 6"/>
          <p:cNvSpPr/>
          <p:nvPr/>
        </p:nvSpPr>
        <p:spPr>
          <a:xfrm>
            <a:off x="2539841" y="2181463"/>
            <a:ext cx="9550718" cy="295513"/>
          </a:xfrm>
          <a:prstGeom prst="rect">
            <a:avLst/>
          </a:prstGeom>
          <a:solidFill>
            <a:srgbClr val="000000">
              <a:alpha val="4000"/>
            </a:srgbClr>
          </a:solidFill>
          <a:ln/>
        </p:spPr>
      </p:sp>
      <p:sp>
        <p:nvSpPr>
          <p:cNvPr id="9" name="Text 7"/>
          <p:cNvSpPr/>
          <p:nvPr/>
        </p:nvSpPr>
        <p:spPr>
          <a:xfrm>
            <a:off x="2678668" y="2239923"/>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Address Size</a:t>
            </a:r>
            <a:endParaRPr lang="en-US" sz="1050" dirty="0"/>
          </a:p>
        </p:txBody>
      </p:sp>
      <p:sp>
        <p:nvSpPr>
          <p:cNvPr id="10" name="Text 8"/>
          <p:cNvSpPr/>
          <p:nvPr/>
        </p:nvSpPr>
        <p:spPr>
          <a:xfrm>
            <a:off x="5547598" y="2239923"/>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32-bit</a:t>
            </a:r>
            <a:endParaRPr lang="en-US" sz="1050" dirty="0"/>
          </a:p>
        </p:txBody>
      </p:sp>
      <p:sp>
        <p:nvSpPr>
          <p:cNvPr id="11" name="Text 9"/>
          <p:cNvSpPr/>
          <p:nvPr/>
        </p:nvSpPr>
        <p:spPr>
          <a:xfrm>
            <a:off x="8890278" y="2239923"/>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128-bit</a:t>
            </a:r>
            <a:endParaRPr lang="en-US" sz="1050" dirty="0"/>
          </a:p>
        </p:txBody>
      </p:sp>
      <p:sp>
        <p:nvSpPr>
          <p:cNvPr id="12" name="Shape 10"/>
          <p:cNvSpPr/>
          <p:nvPr/>
        </p:nvSpPr>
        <p:spPr>
          <a:xfrm>
            <a:off x="2539841" y="2476976"/>
            <a:ext cx="9550718" cy="295513"/>
          </a:xfrm>
          <a:prstGeom prst="rect">
            <a:avLst/>
          </a:prstGeom>
          <a:solidFill>
            <a:srgbClr val="FFFFFF">
              <a:alpha val="4000"/>
            </a:srgbClr>
          </a:solidFill>
          <a:ln/>
        </p:spPr>
      </p:sp>
      <p:sp>
        <p:nvSpPr>
          <p:cNvPr id="13" name="Text 11"/>
          <p:cNvSpPr/>
          <p:nvPr/>
        </p:nvSpPr>
        <p:spPr>
          <a:xfrm>
            <a:off x="2678668" y="2535436"/>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Address Format</a:t>
            </a:r>
            <a:endParaRPr lang="en-US" sz="1050" dirty="0"/>
          </a:p>
        </p:txBody>
      </p:sp>
      <p:sp>
        <p:nvSpPr>
          <p:cNvPr id="14" name="Text 12"/>
          <p:cNvSpPr/>
          <p:nvPr/>
        </p:nvSpPr>
        <p:spPr>
          <a:xfrm>
            <a:off x="5547598" y="2535436"/>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Numeric (Dotted Decimal)</a:t>
            </a:r>
            <a:endParaRPr lang="en-US" sz="1050" dirty="0"/>
          </a:p>
        </p:txBody>
      </p:sp>
      <p:sp>
        <p:nvSpPr>
          <p:cNvPr id="15" name="Text 13"/>
          <p:cNvSpPr/>
          <p:nvPr/>
        </p:nvSpPr>
        <p:spPr>
          <a:xfrm>
            <a:off x="8890278" y="2535436"/>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Alphanumeric (Hexadecimal)</a:t>
            </a:r>
            <a:endParaRPr lang="en-US" sz="1050" dirty="0"/>
          </a:p>
        </p:txBody>
      </p:sp>
      <p:sp>
        <p:nvSpPr>
          <p:cNvPr id="16" name="Shape 14"/>
          <p:cNvSpPr/>
          <p:nvPr/>
        </p:nvSpPr>
        <p:spPr>
          <a:xfrm>
            <a:off x="2539841" y="2772489"/>
            <a:ext cx="9550718" cy="295513"/>
          </a:xfrm>
          <a:prstGeom prst="rect">
            <a:avLst/>
          </a:prstGeom>
          <a:solidFill>
            <a:srgbClr val="000000">
              <a:alpha val="4000"/>
            </a:srgbClr>
          </a:solidFill>
          <a:ln/>
        </p:spPr>
      </p:sp>
      <p:sp>
        <p:nvSpPr>
          <p:cNvPr id="17" name="Text 15"/>
          <p:cNvSpPr/>
          <p:nvPr/>
        </p:nvSpPr>
        <p:spPr>
          <a:xfrm>
            <a:off x="2678668" y="2830949"/>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Number of Addresses</a:t>
            </a:r>
            <a:endParaRPr lang="en-US" sz="1050" dirty="0"/>
          </a:p>
        </p:txBody>
      </p:sp>
      <p:sp>
        <p:nvSpPr>
          <p:cNvPr id="18" name="Text 16"/>
          <p:cNvSpPr/>
          <p:nvPr/>
        </p:nvSpPr>
        <p:spPr>
          <a:xfrm>
            <a:off x="5547598" y="2830949"/>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~4.3 Billion (2³²)</a:t>
            </a:r>
            <a:endParaRPr lang="en-US" sz="1050" dirty="0"/>
          </a:p>
        </p:txBody>
      </p:sp>
      <p:sp>
        <p:nvSpPr>
          <p:cNvPr id="19" name="Text 17"/>
          <p:cNvSpPr/>
          <p:nvPr/>
        </p:nvSpPr>
        <p:spPr>
          <a:xfrm>
            <a:off x="8890278" y="2830949"/>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~340 Undecillion (2¹²⁸)</a:t>
            </a:r>
            <a:endParaRPr lang="en-US" sz="1050" dirty="0"/>
          </a:p>
        </p:txBody>
      </p:sp>
      <p:sp>
        <p:nvSpPr>
          <p:cNvPr id="20" name="Shape 18"/>
          <p:cNvSpPr/>
          <p:nvPr/>
        </p:nvSpPr>
        <p:spPr>
          <a:xfrm>
            <a:off x="2539841" y="3068003"/>
            <a:ext cx="9550718" cy="295513"/>
          </a:xfrm>
          <a:prstGeom prst="rect">
            <a:avLst/>
          </a:prstGeom>
          <a:solidFill>
            <a:srgbClr val="FFFFFF">
              <a:alpha val="4000"/>
            </a:srgbClr>
          </a:solidFill>
          <a:ln/>
        </p:spPr>
      </p:sp>
      <p:sp>
        <p:nvSpPr>
          <p:cNvPr id="21" name="Text 19"/>
          <p:cNvSpPr/>
          <p:nvPr/>
        </p:nvSpPr>
        <p:spPr>
          <a:xfrm>
            <a:off x="2678668" y="3126462"/>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Configuration</a:t>
            </a:r>
            <a:endParaRPr lang="en-US" sz="1050" dirty="0"/>
          </a:p>
        </p:txBody>
      </p:sp>
      <p:sp>
        <p:nvSpPr>
          <p:cNvPr id="22" name="Text 20"/>
          <p:cNvSpPr/>
          <p:nvPr/>
        </p:nvSpPr>
        <p:spPr>
          <a:xfrm>
            <a:off x="5547598" y="3126462"/>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Manual or via DHCP</a:t>
            </a:r>
            <a:endParaRPr lang="en-US" sz="1050" dirty="0"/>
          </a:p>
        </p:txBody>
      </p:sp>
      <p:sp>
        <p:nvSpPr>
          <p:cNvPr id="23" name="Text 21"/>
          <p:cNvSpPr/>
          <p:nvPr/>
        </p:nvSpPr>
        <p:spPr>
          <a:xfrm>
            <a:off x="8890278" y="3126462"/>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Self-configuration (SLAAC) or DHCPv6</a:t>
            </a:r>
            <a:endParaRPr lang="en-US" sz="1050" dirty="0"/>
          </a:p>
        </p:txBody>
      </p:sp>
      <p:sp>
        <p:nvSpPr>
          <p:cNvPr id="24" name="Shape 22"/>
          <p:cNvSpPr/>
          <p:nvPr/>
        </p:nvSpPr>
        <p:spPr>
          <a:xfrm>
            <a:off x="2539841" y="3363516"/>
            <a:ext cx="9550718" cy="295513"/>
          </a:xfrm>
          <a:prstGeom prst="rect">
            <a:avLst/>
          </a:prstGeom>
          <a:solidFill>
            <a:srgbClr val="000000">
              <a:alpha val="4000"/>
            </a:srgbClr>
          </a:solidFill>
          <a:ln/>
        </p:spPr>
      </p:sp>
      <p:sp>
        <p:nvSpPr>
          <p:cNvPr id="25" name="Text 23"/>
          <p:cNvSpPr/>
          <p:nvPr/>
        </p:nvSpPr>
        <p:spPr>
          <a:xfrm>
            <a:off x="2678668" y="3421975"/>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Security</a:t>
            </a:r>
            <a:endParaRPr lang="en-US" sz="1050" dirty="0"/>
          </a:p>
        </p:txBody>
      </p:sp>
      <p:sp>
        <p:nvSpPr>
          <p:cNvPr id="26" name="Text 24"/>
          <p:cNvSpPr/>
          <p:nvPr/>
        </p:nvSpPr>
        <p:spPr>
          <a:xfrm>
            <a:off x="5547598" y="3421975"/>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Optional (IPsec)</a:t>
            </a:r>
            <a:endParaRPr lang="en-US" sz="1050" dirty="0"/>
          </a:p>
        </p:txBody>
      </p:sp>
      <p:sp>
        <p:nvSpPr>
          <p:cNvPr id="27" name="Text 25"/>
          <p:cNvSpPr/>
          <p:nvPr/>
        </p:nvSpPr>
        <p:spPr>
          <a:xfrm>
            <a:off x="8890278" y="3421975"/>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Built-in (IPsec support required)</a:t>
            </a:r>
            <a:endParaRPr lang="en-US" sz="1050" dirty="0"/>
          </a:p>
        </p:txBody>
      </p:sp>
      <p:sp>
        <p:nvSpPr>
          <p:cNvPr id="28" name="Shape 26"/>
          <p:cNvSpPr/>
          <p:nvPr/>
        </p:nvSpPr>
        <p:spPr>
          <a:xfrm>
            <a:off x="2539841" y="3659029"/>
            <a:ext cx="9550718" cy="295513"/>
          </a:xfrm>
          <a:prstGeom prst="rect">
            <a:avLst/>
          </a:prstGeom>
          <a:solidFill>
            <a:srgbClr val="FFFFFF">
              <a:alpha val="4000"/>
            </a:srgbClr>
          </a:solidFill>
          <a:ln/>
        </p:spPr>
      </p:sp>
      <p:sp>
        <p:nvSpPr>
          <p:cNvPr id="29" name="Text 27"/>
          <p:cNvSpPr/>
          <p:nvPr/>
        </p:nvSpPr>
        <p:spPr>
          <a:xfrm>
            <a:off x="2678668" y="3717488"/>
            <a:ext cx="2584133"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Header Size</a:t>
            </a:r>
            <a:endParaRPr lang="en-US" sz="1050" dirty="0"/>
          </a:p>
        </p:txBody>
      </p:sp>
      <p:sp>
        <p:nvSpPr>
          <p:cNvPr id="30" name="Text 28"/>
          <p:cNvSpPr/>
          <p:nvPr/>
        </p:nvSpPr>
        <p:spPr>
          <a:xfrm>
            <a:off x="5547598" y="3717488"/>
            <a:ext cx="305788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20 to 60 bytes (Variable)</a:t>
            </a:r>
            <a:endParaRPr lang="en-US" sz="1050" dirty="0"/>
          </a:p>
        </p:txBody>
      </p:sp>
      <p:sp>
        <p:nvSpPr>
          <p:cNvPr id="31" name="Text 29"/>
          <p:cNvSpPr/>
          <p:nvPr/>
        </p:nvSpPr>
        <p:spPr>
          <a:xfrm>
            <a:off x="8890278" y="3717488"/>
            <a:ext cx="3061692" cy="178594"/>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40 bytes (Fixed)</a:t>
            </a:r>
            <a:endParaRPr lang="en-US" sz="1050" dirty="0"/>
          </a:p>
        </p:txBody>
      </p:sp>
      <p:sp>
        <p:nvSpPr>
          <p:cNvPr id="32" name="Text 30"/>
          <p:cNvSpPr/>
          <p:nvPr/>
        </p:nvSpPr>
        <p:spPr>
          <a:xfrm>
            <a:off x="2532221" y="4057412"/>
            <a:ext cx="138589" cy="173236"/>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Kanit Light" pitchFamily="34" charset="0"/>
                <a:ea typeface="Kanit Light" pitchFamily="34" charset="-122"/>
                <a:cs typeface="Kanit Light" pitchFamily="34" charset="-120"/>
              </a:rPr>
              <a:t>01</a:t>
            </a:r>
            <a:endParaRPr lang="en-US" sz="1050" dirty="0"/>
          </a:p>
        </p:txBody>
      </p:sp>
      <p:sp>
        <p:nvSpPr>
          <p:cNvPr id="33" name="Shape 31"/>
          <p:cNvSpPr/>
          <p:nvPr/>
        </p:nvSpPr>
        <p:spPr>
          <a:xfrm>
            <a:off x="2532221" y="4277678"/>
            <a:ext cx="4740593" cy="15240"/>
          </a:xfrm>
          <a:prstGeom prst="rect">
            <a:avLst/>
          </a:prstGeom>
          <a:solidFill>
            <a:srgbClr val="437066"/>
          </a:solidFill>
          <a:ln/>
        </p:spPr>
      </p:sp>
      <p:sp>
        <p:nvSpPr>
          <p:cNvPr id="34" name="Text 32"/>
          <p:cNvSpPr/>
          <p:nvPr/>
        </p:nvSpPr>
        <p:spPr>
          <a:xfrm>
            <a:off x="2532221" y="4377452"/>
            <a:ext cx="1732955" cy="216694"/>
          </a:xfrm>
          <a:prstGeom prst="rect">
            <a:avLst/>
          </a:prstGeom>
          <a:noFill/>
          <a:ln/>
        </p:spPr>
        <p:txBody>
          <a:bodyPr wrap="none" lIns="0" tIns="0" rIns="0" bIns="0" rtlCol="0" anchor="t"/>
          <a:lstStyle/>
          <a:p>
            <a:pPr algn="l" indent="0" marL="0">
              <a:lnSpc>
                <a:spcPts val="1700"/>
              </a:lnSpc>
              <a:buNone/>
            </a:pPr>
            <a:r>
              <a:rPr lang="en-US" sz="1350" dirty="0">
                <a:solidFill>
                  <a:srgbClr val="2C3249"/>
                </a:solidFill>
                <a:latin typeface="Kanit Light" pitchFamily="34" charset="0"/>
                <a:ea typeface="Kanit Light" pitchFamily="34" charset="-122"/>
                <a:cs typeface="Kanit Light" pitchFamily="34" charset="-120"/>
              </a:rPr>
              <a:t>Address Capacity</a:t>
            </a:r>
            <a:endParaRPr lang="en-US" sz="1350" dirty="0"/>
          </a:p>
        </p:txBody>
      </p:sp>
      <p:sp>
        <p:nvSpPr>
          <p:cNvPr id="35" name="Text 33"/>
          <p:cNvSpPr/>
          <p:nvPr/>
        </p:nvSpPr>
        <p:spPr>
          <a:xfrm>
            <a:off x="2532221" y="4644985"/>
            <a:ext cx="4740593" cy="714375"/>
          </a:xfrm>
          <a:prstGeom prst="rect">
            <a:avLst/>
          </a:prstGeom>
          <a:noFill/>
          <a:ln/>
        </p:spPr>
        <p:txBody>
          <a:bodyPr wrap="squar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The biggest driver for IPv6 is scarcity. IPv4 uses 32-bit addresses, which looks like 192.168.1.1. Because the internet exploded in popularity, we've effectively run out of these addresses. IPv6 uses 128-bit addresses, formatted like 2001:0db8:85a3:0000:0000:8a2e:0370:7334.</a:t>
            </a:r>
            <a:endParaRPr lang="en-US" sz="1050" dirty="0"/>
          </a:p>
        </p:txBody>
      </p:sp>
      <p:sp>
        <p:nvSpPr>
          <p:cNvPr id="36" name="Text 34"/>
          <p:cNvSpPr/>
          <p:nvPr/>
        </p:nvSpPr>
        <p:spPr>
          <a:xfrm>
            <a:off x="7357467" y="4057412"/>
            <a:ext cx="138589" cy="173236"/>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Kanit Light" pitchFamily="34" charset="0"/>
                <a:ea typeface="Kanit Light" pitchFamily="34" charset="-122"/>
                <a:cs typeface="Kanit Light" pitchFamily="34" charset="-120"/>
              </a:rPr>
              <a:t>02</a:t>
            </a:r>
            <a:endParaRPr lang="en-US" sz="1050" dirty="0"/>
          </a:p>
        </p:txBody>
      </p:sp>
      <p:sp>
        <p:nvSpPr>
          <p:cNvPr id="37" name="Shape 35"/>
          <p:cNvSpPr/>
          <p:nvPr/>
        </p:nvSpPr>
        <p:spPr>
          <a:xfrm>
            <a:off x="7357467" y="4277678"/>
            <a:ext cx="4740712" cy="15240"/>
          </a:xfrm>
          <a:prstGeom prst="rect">
            <a:avLst/>
          </a:prstGeom>
          <a:solidFill>
            <a:srgbClr val="437066"/>
          </a:solidFill>
          <a:ln/>
        </p:spPr>
      </p:sp>
      <p:sp>
        <p:nvSpPr>
          <p:cNvPr id="38" name="Text 36"/>
          <p:cNvSpPr/>
          <p:nvPr/>
        </p:nvSpPr>
        <p:spPr>
          <a:xfrm>
            <a:off x="7357467" y="4377452"/>
            <a:ext cx="1732955" cy="216694"/>
          </a:xfrm>
          <a:prstGeom prst="rect">
            <a:avLst/>
          </a:prstGeom>
          <a:noFill/>
          <a:ln/>
        </p:spPr>
        <p:txBody>
          <a:bodyPr wrap="none" lIns="0" tIns="0" rIns="0" bIns="0" rtlCol="0" anchor="t"/>
          <a:lstStyle/>
          <a:p>
            <a:pPr algn="l" indent="0" marL="0">
              <a:lnSpc>
                <a:spcPts val="1700"/>
              </a:lnSpc>
              <a:buNone/>
            </a:pPr>
            <a:r>
              <a:rPr lang="en-US" sz="1350" dirty="0">
                <a:solidFill>
                  <a:srgbClr val="2C3249"/>
                </a:solidFill>
                <a:latin typeface="Kanit Light" pitchFamily="34" charset="0"/>
                <a:ea typeface="Kanit Light" pitchFamily="34" charset="-122"/>
                <a:cs typeface="Kanit Light" pitchFamily="34" charset="-120"/>
              </a:rPr>
              <a:t>Header Efficiency</a:t>
            </a:r>
            <a:endParaRPr lang="en-US" sz="1350" dirty="0"/>
          </a:p>
        </p:txBody>
      </p:sp>
      <p:sp>
        <p:nvSpPr>
          <p:cNvPr id="39" name="Text 37"/>
          <p:cNvSpPr/>
          <p:nvPr/>
        </p:nvSpPr>
        <p:spPr>
          <a:xfrm>
            <a:off x="7357467" y="4644985"/>
            <a:ext cx="4740712" cy="714375"/>
          </a:xfrm>
          <a:prstGeom prst="rect">
            <a:avLst/>
          </a:prstGeom>
          <a:noFill/>
          <a:ln/>
        </p:spPr>
        <p:txBody>
          <a:bodyPr wrap="squar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IPv6 headers are designed to be "cleaner." While the address is longer, the header structure is fixed. This allows routers to process packets faster because they don't have to check for optional fields as they do with IPv4.</a:t>
            </a:r>
            <a:endParaRPr lang="en-US" sz="1050" dirty="0"/>
          </a:p>
        </p:txBody>
      </p:sp>
      <p:sp>
        <p:nvSpPr>
          <p:cNvPr id="40" name="Text 38"/>
          <p:cNvSpPr/>
          <p:nvPr/>
        </p:nvSpPr>
        <p:spPr>
          <a:xfrm>
            <a:off x="2532221" y="5547955"/>
            <a:ext cx="138589" cy="173236"/>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Kanit Light" pitchFamily="34" charset="0"/>
                <a:ea typeface="Kanit Light" pitchFamily="34" charset="-122"/>
                <a:cs typeface="Kanit Light" pitchFamily="34" charset="-120"/>
              </a:rPr>
              <a:t>03</a:t>
            </a:r>
            <a:endParaRPr lang="en-US" sz="1050" dirty="0"/>
          </a:p>
        </p:txBody>
      </p:sp>
      <p:sp>
        <p:nvSpPr>
          <p:cNvPr id="41" name="Shape 39"/>
          <p:cNvSpPr/>
          <p:nvPr/>
        </p:nvSpPr>
        <p:spPr>
          <a:xfrm>
            <a:off x="2532221" y="5768221"/>
            <a:ext cx="4740593" cy="15240"/>
          </a:xfrm>
          <a:prstGeom prst="rect">
            <a:avLst/>
          </a:prstGeom>
          <a:solidFill>
            <a:srgbClr val="437066"/>
          </a:solidFill>
          <a:ln/>
        </p:spPr>
      </p:sp>
      <p:sp>
        <p:nvSpPr>
          <p:cNvPr id="42" name="Text 40"/>
          <p:cNvSpPr/>
          <p:nvPr/>
        </p:nvSpPr>
        <p:spPr>
          <a:xfrm>
            <a:off x="2532221" y="5867995"/>
            <a:ext cx="1732955" cy="216694"/>
          </a:xfrm>
          <a:prstGeom prst="rect">
            <a:avLst/>
          </a:prstGeom>
          <a:noFill/>
          <a:ln/>
        </p:spPr>
        <p:txBody>
          <a:bodyPr wrap="none" lIns="0" tIns="0" rIns="0" bIns="0" rtlCol="0" anchor="t"/>
          <a:lstStyle/>
          <a:p>
            <a:pPr algn="l" indent="0" marL="0">
              <a:lnSpc>
                <a:spcPts val="1700"/>
              </a:lnSpc>
              <a:buNone/>
            </a:pPr>
            <a:r>
              <a:rPr lang="en-US" sz="1350" dirty="0">
                <a:solidFill>
                  <a:srgbClr val="2C3249"/>
                </a:solidFill>
                <a:latin typeface="Kanit Light" pitchFamily="34" charset="0"/>
                <a:ea typeface="Kanit Light" pitchFamily="34" charset="-122"/>
                <a:cs typeface="Kanit Light" pitchFamily="34" charset="-120"/>
              </a:rPr>
              <a:t>No More NAT</a:t>
            </a:r>
            <a:endParaRPr lang="en-US" sz="1350" dirty="0"/>
          </a:p>
        </p:txBody>
      </p:sp>
      <p:sp>
        <p:nvSpPr>
          <p:cNvPr id="43" name="Text 41"/>
          <p:cNvSpPr/>
          <p:nvPr/>
        </p:nvSpPr>
        <p:spPr>
          <a:xfrm>
            <a:off x="2532221" y="6135529"/>
            <a:ext cx="4740593" cy="714375"/>
          </a:xfrm>
          <a:prstGeom prst="rect">
            <a:avLst/>
          </a:prstGeom>
          <a:noFill/>
          <a:ln/>
        </p:spPr>
        <p:txBody>
          <a:bodyPr wrap="squar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In IPv4, your home router usually has one public IP, and it "hides" all your devices behind it using NAT. IPv6 provides so many addresses that every single device in your house can have its own unique, public IP address, simplifying peer-to-peer connections and VoIP.</a:t>
            </a:r>
            <a:endParaRPr lang="en-US" sz="1050" dirty="0"/>
          </a:p>
        </p:txBody>
      </p:sp>
      <p:sp>
        <p:nvSpPr>
          <p:cNvPr id="44" name="Text 42"/>
          <p:cNvSpPr/>
          <p:nvPr/>
        </p:nvSpPr>
        <p:spPr>
          <a:xfrm>
            <a:off x="7357467" y="5547955"/>
            <a:ext cx="138589" cy="173236"/>
          </a:xfrm>
          <a:prstGeom prst="rect">
            <a:avLst/>
          </a:prstGeom>
          <a:noFill/>
          <a:ln/>
        </p:spPr>
        <p:txBody>
          <a:bodyPr wrap="none" lIns="0" tIns="0" rIns="0" bIns="0" rtlCol="0" anchor="t"/>
          <a:lstStyle/>
          <a:p>
            <a:pPr algn="l" indent="0" marL="0">
              <a:lnSpc>
                <a:spcPts val="1400"/>
              </a:lnSpc>
              <a:buNone/>
            </a:pPr>
            <a:r>
              <a:rPr lang="en-US" sz="1050" dirty="0">
                <a:solidFill>
                  <a:srgbClr val="2C3249"/>
                </a:solidFill>
                <a:latin typeface="Kanit Light" pitchFamily="34" charset="0"/>
                <a:ea typeface="Kanit Light" pitchFamily="34" charset="-122"/>
                <a:cs typeface="Kanit Light" pitchFamily="34" charset="-120"/>
              </a:rPr>
              <a:t>04</a:t>
            </a:r>
            <a:endParaRPr lang="en-US" sz="1050" dirty="0"/>
          </a:p>
        </p:txBody>
      </p:sp>
      <p:sp>
        <p:nvSpPr>
          <p:cNvPr id="45" name="Shape 43"/>
          <p:cNvSpPr/>
          <p:nvPr/>
        </p:nvSpPr>
        <p:spPr>
          <a:xfrm>
            <a:off x="7357467" y="5768221"/>
            <a:ext cx="4740712" cy="15240"/>
          </a:xfrm>
          <a:prstGeom prst="rect">
            <a:avLst/>
          </a:prstGeom>
          <a:solidFill>
            <a:srgbClr val="437066"/>
          </a:solidFill>
          <a:ln/>
        </p:spPr>
      </p:sp>
      <p:sp>
        <p:nvSpPr>
          <p:cNvPr id="46" name="Text 44"/>
          <p:cNvSpPr/>
          <p:nvPr/>
        </p:nvSpPr>
        <p:spPr>
          <a:xfrm>
            <a:off x="7357467" y="5867995"/>
            <a:ext cx="2365058" cy="216694"/>
          </a:xfrm>
          <a:prstGeom prst="rect">
            <a:avLst/>
          </a:prstGeom>
          <a:noFill/>
          <a:ln/>
        </p:spPr>
        <p:txBody>
          <a:bodyPr wrap="none" lIns="0" tIns="0" rIns="0" bIns="0" rtlCol="0" anchor="t"/>
          <a:lstStyle/>
          <a:p>
            <a:pPr algn="l" indent="0" marL="0">
              <a:lnSpc>
                <a:spcPts val="1700"/>
              </a:lnSpc>
              <a:buNone/>
            </a:pPr>
            <a:r>
              <a:rPr lang="en-US" sz="1350" dirty="0">
                <a:solidFill>
                  <a:srgbClr val="2C3249"/>
                </a:solidFill>
                <a:latin typeface="Kanit Light" pitchFamily="34" charset="0"/>
                <a:ea typeface="Kanit Light" pitchFamily="34" charset="-122"/>
                <a:cs typeface="Kanit Light" pitchFamily="34" charset="-120"/>
              </a:rPr>
              <a:t>Improved Security and Mobility</a:t>
            </a:r>
            <a:endParaRPr lang="en-US" sz="1350" dirty="0"/>
          </a:p>
        </p:txBody>
      </p:sp>
      <p:sp>
        <p:nvSpPr>
          <p:cNvPr id="47" name="Text 45"/>
          <p:cNvSpPr/>
          <p:nvPr/>
        </p:nvSpPr>
        <p:spPr>
          <a:xfrm>
            <a:off x="7357467" y="6135529"/>
            <a:ext cx="4740712" cy="714375"/>
          </a:xfrm>
          <a:prstGeom prst="rect">
            <a:avLst/>
          </a:prstGeom>
          <a:noFill/>
          <a:ln/>
        </p:spPr>
        <p:txBody>
          <a:bodyPr wrap="square" lIns="0" tIns="0" rIns="0" bIns="0" rtlCol="0" anchor="t"/>
          <a:lstStyle/>
          <a:p>
            <a:pPr algn="l" indent="0" marL="0">
              <a:lnSpc>
                <a:spcPts val="1400"/>
              </a:lnSpc>
              <a:buNone/>
            </a:pPr>
            <a:r>
              <a:rPr lang="en-US" sz="1050" dirty="0">
                <a:solidFill>
                  <a:srgbClr val="2C3249"/>
                </a:solidFill>
                <a:latin typeface="Martel Sans" pitchFamily="34" charset="0"/>
                <a:ea typeface="Martel Sans" pitchFamily="34" charset="-122"/>
                <a:cs typeface="Martel Sans" pitchFamily="34" charset="-120"/>
              </a:rPr>
              <a:t>IPv6 was built with the modern mobile world in mind. It has better support for "Mobile IP" (keeping a connection while moving between Wi-Fi and Cellular) and was designed from the ground up to support IPsec, which encrypts and authenticates your data.</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398758" y="1653183"/>
            <a:ext cx="2837974" cy="354806"/>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What is a MAC Address</a:t>
            </a:r>
            <a:endParaRPr lang="en-US" sz="2200" dirty="0"/>
          </a:p>
        </p:txBody>
      </p:sp>
      <p:sp>
        <p:nvSpPr>
          <p:cNvPr id="3" name="Text 1"/>
          <p:cNvSpPr/>
          <p:nvPr/>
        </p:nvSpPr>
        <p:spPr>
          <a:xfrm>
            <a:off x="3398758" y="2121575"/>
            <a:ext cx="7832765" cy="408265"/>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Think of a MAC Address (Media Access Control) as the "Social Security Number" for your hardware. While an IP address changes depending on which Wi-Fi network you join, the MAC address is "burned" into your network interface card (NIC) at the factory and stays with the device forever.</a:t>
            </a:r>
            <a:endParaRPr lang="en-US" sz="850" dirty="0"/>
          </a:p>
        </p:txBody>
      </p:sp>
      <p:sp>
        <p:nvSpPr>
          <p:cNvPr id="4" name="Text 2"/>
          <p:cNvSpPr/>
          <p:nvPr/>
        </p:nvSpPr>
        <p:spPr>
          <a:xfrm>
            <a:off x="3398758" y="2614970"/>
            <a:ext cx="2043589" cy="212765"/>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Anatomy of a MAC Address</a:t>
            </a:r>
            <a:endParaRPr lang="en-US" sz="1300" dirty="0"/>
          </a:p>
        </p:txBody>
      </p:sp>
      <p:sp>
        <p:nvSpPr>
          <p:cNvPr id="5" name="Text 3"/>
          <p:cNvSpPr/>
          <p:nvPr/>
        </p:nvSpPr>
        <p:spPr>
          <a:xfrm>
            <a:off x="3398758" y="2912864"/>
            <a:ext cx="783276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 MAC address is a 48-bit identifier usually written as six groups of two hexadecimal digits (e.g., 00:1A:2B:3C:4D:5E). It is divided into two parts:</a:t>
            </a:r>
            <a:endParaRPr lang="en-US" sz="850" dirty="0"/>
          </a:p>
        </p:txBody>
      </p:sp>
      <p:sp>
        <p:nvSpPr>
          <p:cNvPr id="6" name="Text 4"/>
          <p:cNvSpPr/>
          <p:nvPr/>
        </p:nvSpPr>
        <p:spPr>
          <a:xfrm>
            <a:off x="3398758" y="3112770"/>
            <a:ext cx="7832765" cy="292060"/>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OUI (Organizationally Unique Identifier):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The first three groups (24 bits) identify the manufacturer (e.g., Apple, Samsung, Intel).</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NIC Specific:</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The last three groups (24 bits) are a unique serial number assigned by that manufacturer.</a:t>
            </a:r>
            <a:endParaRPr lang="en-US" sz="850" dirty="0"/>
          </a:p>
        </p:txBody>
      </p:sp>
      <p:sp>
        <p:nvSpPr>
          <p:cNvPr id="7" name="Text 5"/>
          <p:cNvSpPr/>
          <p:nvPr/>
        </p:nvSpPr>
        <p:spPr>
          <a:xfrm>
            <a:off x="3398758" y="3489960"/>
            <a:ext cx="1816656" cy="212765"/>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Types of MAC Addresses</a:t>
            </a:r>
            <a:endParaRPr lang="en-US" sz="1300" dirty="0"/>
          </a:p>
        </p:txBody>
      </p:sp>
      <p:sp>
        <p:nvSpPr>
          <p:cNvPr id="8" name="Text 6"/>
          <p:cNvSpPr/>
          <p:nvPr/>
        </p:nvSpPr>
        <p:spPr>
          <a:xfrm>
            <a:off x="3398758" y="3787854"/>
            <a:ext cx="783276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Not all MAC addresses are meant for a single device. They are categorized based on how they communicate with the network:</a:t>
            </a:r>
            <a:endParaRPr lang="en-US" sz="850" dirty="0"/>
          </a:p>
        </p:txBody>
      </p:sp>
      <p:sp>
        <p:nvSpPr>
          <p:cNvPr id="9" name="Shape 7"/>
          <p:cNvSpPr/>
          <p:nvPr/>
        </p:nvSpPr>
        <p:spPr>
          <a:xfrm>
            <a:off x="3398758" y="3987760"/>
            <a:ext cx="2573060" cy="1557576"/>
          </a:xfrm>
          <a:prstGeom prst="roundRect">
            <a:avLst>
              <a:gd name="adj" fmla="val 3061"/>
            </a:avLst>
          </a:prstGeom>
          <a:solidFill>
            <a:srgbClr val="FFFFFF"/>
          </a:solidFill>
          <a:ln w="15240">
            <a:solidFill>
              <a:srgbClr val="C5D2CF"/>
            </a:solidFill>
            <a:prstDash val="solid"/>
          </a:ln>
        </p:spPr>
      </p:sp>
      <p:sp>
        <p:nvSpPr>
          <p:cNvPr id="10" name="Text 8"/>
          <p:cNvSpPr/>
          <p:nvPr/>
        </p:nvSpPr>
        <p:spPr>
          <a:xfrm>
            <a:off x="3527465" y="4116467"/>
            <a:ext cx="1418987" cy="177403"/>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Unicast MAC Address</a:t>
            </a:r>
            <a:endParaRPr lang="en-US" sz="1100" dirty="0"/>
          </a:p>
        </p:txBody>
      </p:sp>
      <p:sp>
        <p:nvSpPr>
          <p:cNvPr id="11" name="Text 9"/>
          <p:cNvSpPr/>
          <p:nvPr/>
        </p:nvSpPr>
        <p:spPr>
          <a:xfrm>
            <a:off x="3527465" y="4327922"/>
            <a:ext cx="2315647" cy="816531"/>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is the most common type. It identifies a single specific device on the network. When a frame is sent to a Unicast address, it is intended for only one pair of eyes.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Example:</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Sending a file from your laptop to your printer.</a:t>
            </a:r>
            <a:endParaRPr lang="en-US" sz="850" dirty="0"/>
          </a:p>
        </p:txBody>
      </p:sp>
      <p:sp>
        <p:nvSpPr>
          <p:cNvPr id="12" name="Shape 10"/>
          <p:cNvSpPr/>
          <p:nvPr/>
        </p:nvSpPr>
        <p:spPr>
          <a:xfrm>
            <a:off x="6028611" y="3987760"/>
            <a:ext cx="2573060" cy="1557576"/>
          </a:xfrm>
          <a:prstGeom prst="roundRect">
            <a:avLst>
              <a:gd name="adj" fmla="val 3061"/>
            </a:avLst>
          </a:prstGeom>
          <a:solidFill>
            <a:srgbClr val="FFFFFF"/>
          </a:solidFill>
          <a:ln w="15240">
            <a:solidFill>
              <a:srgbClr val="C5D2CF"/>
            </a:solidFill>
            <a:prstDash val="solid"/>
          </a:ln>
        </p:spPr>
      </p:sp>
      <p:sp>
        <p:nvSpPr>
          <p:cNvPr id="13" name="Text 11"/>
          <p:cNvSpPr/>
          <p:nvPr/>
        </p:nvSpPr>
        <p:spPr>
          <a:xfrm>
            <a:off x="6157317" y="4116467"/>
            <a:ext cx="1418987" cy="177403"/>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Multicast MAC Address</a:t>
            </a:r>
            <a:endParaRPr lang="en-US" sz="1100" dirty="0"/>
          </a:p>
        </p:txBody>
      </p:sp>
      <p:sp>
        <p:nvSpPr>
          <p:cNvPr id="14" name="Text 12"/>
          <p:cNvSpPr/>
          <p:nvPr/>
        </p:nvSpPr>
        <p:spPr>
          <a:xfrm>
            <a:off x="6157317" y="4327922"/>
            <a:ext cx="2315647" cy="952619"/>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address represents a group of devices or services. Devices can "subscribe" to a multicast group to receive specific data.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How to spot it:</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In Ethernet, these always begin with the prefix 01:00:5E.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Example:</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A video stream being sent to multiple employees in an office simultaneously.</a:t>
            </a:r>
            <a:endParaRPr lang="en-US" sz="850" dirty="0"/>
          </a:p>
        </p:txBody>
      </p:sp>
      <p:sp>
        <p:nvSpPr>
          <p:cNvPr id="15" name="Shape 13"/>
          <p:cNvSpPr/>
          <p:nvPr/>
        </p:nvSpPr>
        <p:spPr>
          <a:xfrm>
            <a:off x="8658463" y="3987760"/>
            <a:ext cx="2573060" cy="1557576"/>
          </a:xfrm>
          <a:prstGeom prst="roundRect">
            <a:avLst>
              <a:gd name="adj" fmla="val 3061"/>
            </a:avLst>
          </a:prstGeom>
          <a:solidFill>
            <a:srgbClr val="FFFFFF"/>
          </a:solidFill>
          <a:ln w="15240">
            <a:solidFill>
              <a:srgbClr val="C5D2CF"/>
            </a:solidFill>
            <a:prstDash val="solid"/>
          </a:ln>
        </p:spPr>
      </p:sp>
      <p:sp>
        <p:nvSpPr>
          <p:cNvPr id="16" name="Text 14"/>
          <p:cNvSpPr/>
          <p:nvPr/>
        </p:nvSpPr>
        <p:spPr>
          <a:xfrm>
            <a:off x="8787170" y="4116467"/>
            <a:ext cx="1472803" cy="177403"/>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Broadcast MAC Address</a:t>
            </a:r>
            <a:endParaRPr lang="en-US" sz="1100" dirty="0"/>
          </a:p>
        </p:txBody>
      </p:sp>
      <p:sp>
        <p:nvSpPr>
          <p:cNvPr id="17" name="Text 15"/>
          <p:cNvSpPr/>
          <p:nvPr/>
        </p:nvSpPr>
        <p:spPr>
          <a:xfrm>
            <a:off x="8787170" y="4327922"/>
            <a:ext cx="2315647" cy="1088708"/>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is the "shout-out" address. When a frame is sent here, every device on the local network segment receives and processes it.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The Format:</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is always all "Fs": FF:FF:FF:FF:FF:FF.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Example:</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An ARP Request (which we discussed earlier) uses a broadcast address to find who owns a specific IP.</a:t>
            </a:r>
            <a:endParaRPr lang="en-US" sz="850" dirty="0"/>
          </a:p>
        </p:txBody>
      </p:sp>
      <p:sp>
        <p:nvSpPr>
          <p:cNvPr id="18" name="Text 16"/>
          <p:cNvSpPr/>
          <p:nvPr/>
        </p:nvSpPr>
        <p:spPr>
          <a:xfrm>
            <a:off x="3398758" y="5630466"/>
            <a:ext cx="2282428" cy="212765"/>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How to Find Your MAC Address</a:t>
            </a:r>
            <a:endParaRPr lang="en-US" sz="1300" dirty="0"/>
          </a:p>
        </p:txBody>
      </p:sp>
      <p:sp>
        <p:nvSpPr>
          <p:cNvPr id="19" name="Text 17"/>
          <p:cNvSpPr/>
          <p:nvPr/>
        </p:nvSpPr>
        <p:spPr>
          <a:xfrm>
            <a:off x="3398758" y="5928360"/>
            <a:ext cx="783276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If you're curious about your own hardware's "fingerprint," you can find it quickly:</a:t>
            </a:r>
            <a:endParaRPr lang="en-US" sz="850" dirty="0"/>
          </a:p>
        </p:txBody>
      </p:sp>
      <p:sp>
        <p:nvSpPr>
          <p:cNvPr id="20" name="Text 18"/>
          <p:cNvSpPr/>
          <p:nvPr/>
        </p:nvSpPr>
        <p:spPr>
          <a:xfrm>
            <a:off x="3398758" y="6128266"/>
            <a:ext cx="7832765" cy="448032"/>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Windows: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Open Command Prompt and type getmac or ipconfig /all.</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macOS/Linux:</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Open Terminal and type ifconfig (look for "ether").</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Android/iOS: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Look under Settings &gt; About Phone &gt; Status or General &gt;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86897"/>
            <a:ext cx="11999476"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Difference Between MAC Address and IP Address</a:t>
            </a:r>
            <a:endParaRPr lang="en-US" sz="4450" dirty="0"/>
          </a:p>
        </p:txBody>
      </p:sp>
      <p:sp>
        <p:nvSpPr>
          <p:cNvPr id="3" name="Shape 1"/>
          <p:cNvSpPr/>
          <p:nvPr/>
        </p:nvSpPr>
        <p:spPr>
          <a:xfrm>
            <a:off x="793790" y="2049304"/>
            <a:ext cx="13042821" cy="5293281"/>
          </a:xfrm>
          <a:prstGeom prst="roundRect">
            <a:avLst>
              <a:gd name="adj" fmla="val 1800"/>
            </a:avLst>
          </a:prstGeom>
          <a:noFill/>
          <a:ln w="7620">
            <a:solidFill>
              <a:srgbClr val="000000">
                <a:alpha val="8000"/>
              </a:srgbClr>
            </a:solidFill>
            <a:prstDash val="solid"/>
          </a:ln>
        </p:spPr>
      </p:sp>
      <p:sp>
        <p:nvSpPr>
          <p:cNvPr id="4" name="Shape 2"/>
          <p:cNvSpPr/>
          <p:nvPr/>
        </p:nvSpPr>
        <p:spPr>
          <a:xfrm>
            <a:off x="801410" y="2056924"/>
            <a:ext cx="13027581" cy="650319"/>
          </a:xfrm>
          <a:prstGeom prst="rect">
            <a:avLst/>
          </a:prstGeom>
          <a:solidFill>
            <a:srgbClr val="FFFFFF">
              <a:alpha val="4000"/>
            </a:srgbClr>
          </a:solidFill>
          <a:ln/>
        </p:spPr>
      </p:sp>
      <p:sp>
        <p:nvSpPr>
          <p:cNvPr id="5" name="Text 3"/>
          <p:cNvSpPr/>
          <p:nvPr/>
        </p:nvSpPr>
        <p:spPr>
          <a:xfrm>
            <a:off x="1028462" y="2200632"/>
            <a:ext cx="2799397"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Feature</a:t>
            </a:r>
            <a:endParaRPr lang="en-US" sz="1750" dirty="0"/>
          </a:p>
        </p:txBody>
      </p:sp>
      <p:sp>
        <p:nvSpPr>
          <p:cNvPr id="6" name="Text 4"/>
          <p:cNvSpPr/>
          <p:nvPr/>
        </p:nvSpPr>
        <p:spPr>
          <a:xfrm>
            <a:off x="4289108" y="2200632"/>
            <a:ext cx="4424005"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MAC Address (Media Access Control)</a:t>
            </a:r>
            <a:endParaRPr lang="en-US" sz="1750" dirty="0"/>
          </a:p>
        </p:txBody>
      </p:sp>
      <p:sp>
        <p:nvSpPr>
          <p:cNvPr id="7" name="Text 5"/>
          <p:cNvSpPr/>
          <p:nvPr/>
        </p:nvSpPr>
        <p:spPr>
          <a:xfrm>
            <a:off x="9174361" y="2200632"/>
            <a:ext cx="4427815" cy="362903"/>
          </a:xfrm>
          <a:prstGeom prst="rect">
            <a:avLst/>
          </a:prstGeom>
          <a:noFill/>
          <a:ln/>
        </p:spPr>
        <p:txBody>
          <a:bodyPr wrap="none" lIns="0" tIns="0" rIns="0" bIns="0" rtlCol="0" anchor="t"/>
          <a:lstStyle/>
          <a:p>
            <a:pPr algn="l" indent="0" marL="0">
              <a:lnSpc>
                <a:spcPts val="2850"/>
              </a:lnSpc>
              <a:buNone/>
            </a:pPr>
            <a:r>
              <a:rPr lang="en-US" sz="1750" b="1" dirty="0">
                <a:solidFill>
                  <a:srgbClr val="2C3249"/>
                </a:solidFill>
                <a:latin typeface="Martel Sans" pitchFamily="34" charset="0"/>
                <a:ea typeface="Martel Sans" pitchFamily="34" charset="-122"/>
                <a:cs typeface="Martel Sans" pitchFamily="34" charset="-120"/>
              </a:rPr>
              <a:t>IP Address (Internet Protocol)</a:t>
            </a:r>
            <a:endParaRPr lang="en-US" sz="1750" dirty="0"/>
          </a:p>
        </p:txBody>
      </p:sp>
      <p:sp>
        <p:nvSpPr>
          <p:cNvPr id="8" name="Shape 6"/>
          <p:cNvSpPr/>
          <p:nvPr/>
        </p:nvSpPr>
        <p:spPr>
          <a:xfrm>
            <a:off x="801410" y="2707243"/>
            <a:ext cx="13027581" cy="650319"/>
          </a:xfrm>
          <a:prstGeom prst="rect">
            <a:avLst/>
          </a:prstGeom>
          <a:solidFill>
            <a:srgbClr val="000000">
              <a:alpha val="4000"/>
            </a:srgbClr>
          </a:solidFill>
          <a:ln/>
        </p:spPr>
      </p:sp>
      <p:sp>
        <p:nvSpPr>
          <p:cNvPr id="9" name="Text 7"/>
          <p:cNvSpPr/>
          <p:nvPr/>
        </p:nvSpPr>
        <p:spPr>
          <a:xfrm>
            <a:off x="1028462" y="285095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Full Name</a:t>
            </a:r>
            <a:endParaRPr lang="en-US" sz="1750" dirty="0"/>
          </a:p>
        </p:txBody>
      </p:sp>
      <p:sp>
        <p:nvSpPr>
          <p:cNvPr id="10" name="Text 8"/>
          <p:cNvSpPr/>
          <p:nvPr/>
        </p:nvSpPr>
        <p:spPr>
          <a:xfrm>
            <a:off x="4289108" y="2850952"/>
            <a:ext cx="44240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Physical Address / Hardware Address</a:t>
            </a:r>
            <a:endParaRPr lang="en-US" sz="1750" dirty="0"/>
          </a:p>
        </p:txBody>
      </p:sp>
      <p:sp>
        <p:nvSpPr>
          <p:cNvPr id="11" name="Text 9"/>
          <p:cNvSpPr/>
          <p:nvPr/>
        </p:nvSpPr>
        <p:spPr>
          <a:xfrm>
            <a:off x="9174361" y="2850952"/>
            <a:ext cx="442781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Logical Address / Network Address</a:t>
            </a:r>
            <a:endParaRPr lang="en-US" sz="1750" dirty="0"/>
          </a:p>
        </p:txBody>
      </p:sp>
      <p:sp>
        <p:nvSpPr>
          <p:cNvPr id="12" name="Shape 10"/>
          <p:cNvSpPr/>
          <p:nvPr/>
        </p:nvSpPr>
        <p:spPr>
          <a:xfrm>
            <a:off x="801410" y="3357563"/>
            <a:ext cx="13027581" cy="1013222"/>
          </a:xfrm>
          <a:prstGeom prst="rect">
            <a:avLst/>
          </a:prstGeom>
          <a:solidFill>
            <a:srgbClr val="FFFFFF">
              <a:alpha val="4000"/>
            </a:srgbClr>
          </a:solidFill>
          <a:ln/>
        </p:spPr>
      </p:sp>
      <p:sp>
        <p:nvSpPr>
          <p:cNvPr id="13" name="Text 11"/>
          <p:cNvSpPr/>
          <p:nvPr/>
        </p:nvSpPr>
        <p:spPr>
          <a:xfrm>
            <a:off x="1028462" y="3501271"/>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Uniqueness</a:t>
            </a:r>
            <a:endParaRPr lang="en-US" sz="1750" dirty="0"/>
          </a:p>
        </p:txBody>
      </p:sp>
      <p:sp>
        <p:nvSpPr>
          <p:cNvPr id="14" name="Text 12"/>
          <p:cNvSpPr/>
          <p:nvPr/>
        </p:nvSpPr>
        <p:spPr>
          <a:xfrm>
            <a:off x="4289108" y="3501271"/>
            <a:ext cx="4424005"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Hard-coded into the device at the factory</a:t>
            </a:r>
            <a:endParaRPr lang="en-US" sz="1750" dirty="0"/>
          </a:p>
        </p:txBody>
      </p:sp>
      <p:sp>
        <p:nvSpPr>
          <p:cNvPr id="15" name="Text 13"/>
          <p:cNvSpPr/>
          <p:nvPr/>
        </p:nvSpPr>
        <p:spPr>
          <a:xfrm>
            <a:off x="9174361" y="3501271"/>
            <a:ext cx="442781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Assigned by the network or ISP</a:t>
            </a:r>
            <a:endParaRPr lang="en-US" sz="1750" dirty="0"/>
          </a:p>
        </p:txBody>
      </p:sp>
      <p:sp>
        <p:nvSpPr>
          <p:cNvPr id="16" name="Shape 14"/>
          <p:cNvSpPr/>
          <p:nvPr/>
        </p:nvSpPr>
        <p:spPr>
          <a:xfrm>
            <a:off x="801410" y="4370784"/>
            <a:ext cx="13027581" cy="650319"/>
          </a:xfrm>
          <a:prstGeom prst="rect">
            <a:avLst/>
          </a:prstGeom>
          <a:solidFill>
            <a:srgbClr val="000000">
              <a:alpha val="4000"/>
            </a:srgbClr>
          </a:solidFill>
          <a:ln/>
        </p:spPr>
      </p:sp>
      <p:sp>
        <p:nvSpPr>
          <p:cNvPr id="17" name="Text 15"/>
          <p:cNvSpPr/>
          <p:nvPr/>
        </p:nvSpPr>
        <p:spPr>
          <a:xfrm>
            <a:off x="1028462" y="451449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Changeability</a:t>
            </a:r>
            <a:endParaRPr lang="en-US" sz="1750" dirty="0"/>
          </a:p>
        </p:txBody>
      </p:sp>
      <p:sp>
        <p:nvSpPr>
          <p:cNvPr id="18" name="Text 16"/>
          <p:cNvSpPr/>
          <p:nvPr/>
        </p:nvSpPr>
        <p:spPr>
          <a:xfrm>
            <a:off x="4289108" y="4514493"/>
            <a:ext cx="44240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Permanent (mostly)</a:t>
            </a:r>
            <a:endParaRPr lang="en-US" sz="1750" dirty="0"/>
          </a:p>
        </p:txBody>
      </p:sp>
      <p:sp>
        <p:nvSpPr>
          <p:cNvPr id="19" name="Text 17"/>
          <p:cNvSpPr/>
          <p:nvPr/>
        </p:nvSpPr>
        <p:spPr>
          <a:xfrm>
            <a:off x="9174361" y="4514493"/>
            <a:ext cx="442781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Temporary (changes with networks)</a:t>
            </a:r>
            <a:endParaRPr lang="en-US" sz="1750" dirty="0"/>
          </a:p>
        </p:txBody>
      </p:sp>
      <p:sp>
        <p:nvSpPr>
          <p:cNvPr id="20" name="Shape 18"/>
          <p:cNvSpPr/>
          <p:nvPr/>
        </p:nvSpPr>
        <p:spPr>
          <a:xfrm>
            <a:off x="801410" y="5021104"/>
            <a:ext cx="13027581" cy="650319"/>
          </a:xfrm>
          <a:prstGeom prst="rect">
            <a:avLst/>
          </a:prstGeom>
          <a:solidFill>
            <a:srgbClr val="FFFFFF">
              <a:alpha val="4000"/>
            </a:srgbClr>
          </a:solidFill>
          <a:ln/>
        </p:spPr>
      </p:sp>
      <p:sp>
        <p:nvSpPr>
          <p:cNvPr id="21" name="Text 19"/>
          <p:cNvSpPr/>
          <p:nvPr/>
        </p:nvSpPr>
        <p:spPr>
          <a:xfrm>
            <a:off x="1028462" y="516481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Layer (OSI)</a:t>
            </a:r>
            <a:endParaRPr lang="en-US" sz="1750" dirty="0"/>
          </a:p>
        </p:txBody>
      </p:sp>
      <p:sp>
        <p:nvSpPr>
          <p:cNvPr id="22" name="Text 20"/>
          <p:cNvSpPr/>
          <p:nvPr/>
        </p:nvSpPr>
        <p:spPr>
          <a:xfrm>
            <a:off x="4289108" y="5164812"/>
            <a:ext cx="44240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Data Link Layer (Layer 2)</a:t>
            </a:r>
            <a:endParaRPr lang="en-US" sz="1750" dirty="0"/>
          </a:p>
        </p:txBody>
      </p:sp>
      <p:sp>
        <p:nvSpPr>
          <p:cNvPr id="23" name="Text 21"/>
          <p:cNvSpPr/>
          <p:nvPr/>
        </p:nvSpPr>
        <p:spPr>
          <a:xfrm>
            <a:off x="9174361" y="5164812"/>
            <a:ext cx="442781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Network Layer (Layer 3)</a:t>
            </a:r>
            <a:endParaRPr lang="en-US" sz="1750" dirty="0"/>
          </a:p>
        </p:txBody>
      </p:sp>
      <p:sp>
        <p:nvSpPr>
          <p:cNvPr id="24" name="Shape 22"/>
          <p:cNvSpPr/>
          <p:nvPr/>
        </p:nvSpPr>
        <p:spPr>
          <a:xfrm>
            <a:off x="801410" y="5671423"/>
            <a:ext cx="13027581" cy="1013222"/>
          </a:xfrm>
          <a:prstGeom prst="rect">
            <a:avLst/>
          </a:prstGeom>
          <a:solidFill>
            <a:srgbClr val="000000">
              <a:alpha val="4000"/>
            </a:srgbClr>
          </a:solidFill>
          <a:ln/>
        </p:spPr>
      </p:sp>
      <p:sp>
        <p:nvSpPr>
          <p:cNvPr id="25" name="Text 23"/>
          <p:cNvSpPr/>
          <p:nvPr/>
        </p:nvSpPr>
        <p:spPr>
          <a:xfrm>
            <a:off x="1028462" y="5815132"/>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Scope</a:t>
            </a:r>
            <a:endParaRPr lang="en-US" sz="1750" dirty="0"/>
          </a:p>
        </p:txBody>
      </p:sp>
      <p:sp>
        <p:nvSpPr>
          <p:cNvPr id="26" name="Text 24"/>
          <p:cNvSpPr/>
          <p:nvPr/>
        </p:nvSpPr>
        <p:spPr>
          <a:xfrm>
            <a:off x="4289108" y="5815132"/>
            <a:ext cx="44240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Used for local communication (LAN)</a:t>
            </a:r>
            <a:endParaRPr lang="en-US" sz="1750" dirty="0"/>
          </a:p>
        </p:txBody>
      </p:sp>
      <p:sp>
        <p:nvSpPr>
          <p:cNvPr id="27" name="Text 25"/>
          <p:cNvSpPr/>
          <p:nvPr/>
        </p:nvSpPr>
        <p:spPr>
          <a:xfrm>
            <a:off x="9174361" y="5815132"/>
            <a:ext cx="4427815"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Used for global communication (Internet)</a:t>
            </a:r>
            <a:endParaRPr lang="en-US" sz="1750" dirty="0"/>
          </a:p>
        </p:txBody>
      </p:sp>
      <p:sp>
        <p:nvSpPr>
          <p:cNvPr id="28" name="Shape 26"/>
          <p:cNvSpPr/>
          <p:nvPr/>
        </p:nvSpPr>
        <p:spPr>
          <a:xfrm>
            <a:off x="801410" y="6684645"/>
            <a:ext cx="13027581" cy="650319"/>
          </a:xfrm>
          <a:prstGeom prst="rect">
            <a:avLst/>
          </a:prstGeom>
          <a:solidFill>
            <a:srgbClr val="FFFFFF">
              <a:alpha val="4000"/>
            </a:srgbClr>
          </a:solidFill>
          <a:ln/>
        </p:spPr>
      </p:sp>
      <p:sp>
        <p:nvSpPr>
          <p:cNvPr id="29" name="Text 27"/>
          <p:cNvSpPr/>
          <p:nvPr/>
        </p:nvSpPr>
        <p:spPr>
          <a:xfrm>
            <a:off x="1028462" y="6828353"/>
            <a:ext cx="2799397"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Format</a:t>
            </a:r>
            <a:endParaRPr lang="en-US" sz="1750" dirty="0"/>
          </a:p>
        </p:txBody>
      </p:sp>
      <p:sp>
        <p:nvSpPr>
          <p:cNvPr id="30" name="Text 28"/>
          <p:cNvSpPr/>
          <p:nvPr/>
        </p:nvSpPr>
        <p:spPr>
          <a:xfrm>
            <a:off x="4289108" y="6828353"/>
            <a:ext cx="442400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Hexadecimal (e.g., 00:1A:2B:3C:4D:5E)</a:t>
            </a:r>
            <a:endParaRPr lang="en-US" sz="1750" dirty="0"/>
          </a:p>
        </p:txBody>
      </p:sp>
      <p:sp>
        <p:nvSpPr>
          <p:cNvPr id="31" name="Text 29"/>
          <p:cNvSpPr/>
          <p:nvPr/>
        </p:nvSpPr>
        <p:spPr>
          <a:xfrm>
            <a:off x="9174361" y="6828353"/>
            <a:ext cx="4427815"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Numeric (e.g., 192.168.1.1)</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326475"/>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72D45"/>
                </a:solidFill>
                <a:latin typeface="Kanit Light" pitchFamily="34" charset="0"/>
                <a:ea typeface="Kanit Light" pitchFamily="34" charset="-122"/>
                <a:cs typeface="Kanit Light" pitchFamily="34" charset="-120"/>
              </a:rPr>
              <a:t>ARP Protocol</a:t>
            </a:r>
            <a:endParaRPr lang="en-US" sz="4450" dirty="0"/>
          </a:p>
        </p:txBody>
      </p:sp>
      <p:sp>
        <p:nvSpPr>
          <p:cNvPr id="3" name="Text 1"/>
          <p:cNvSpPr/>
          <p:nvPr/>
        </p:nvSpPr>
        <p:spPr>
          <a:xfrm>
            <a:off x="793790" y="2488883"/>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ARP protocol stands for address resolution protocol. It is used to map an IP address to MAC address within a local network.</a:t>
            </a:r>
            <a:endParaRPr lang="en-US" sz="1750" dirty="0"/>
          </a:p>
        </p:txBody>
      </p:sp>
      <p:pic>
        <p:nvPicPr>
          <p:cNvPr id="4" name="Image 0" descr="preencoded.png">    </p:cNvPr>
          <p:cNvPicPr>
            <a:picLocks noChangeAspect="1"/>
          </p:cNvPicPr>
          <p:nvPr/>
        </p:nvPicPr>
        <p:blipFill>
          <a:blip r:embed="rId1"/>
          <a:stretch>
            <a:fillRect/>
          </a:stretch>
        </p:blipFill>
        <p:spPr>
          <a:xfrm>
            <a:off x="793790" y="3469838"/>
            <a:ext cx="6521410" cy="907256"/>
          </a:xfrm>
          <a:prstGeom prst="rect">
            <a:avLst/>
          </a:prstGeom>
        </p:spPr>
      </p:pic>
      <p:sp>
        <p:nvSpPr>
          <p:cNvPr id="5" name="Text 2"/>
          <p:cNvSpPr/>
          <p:nvPr/>
        </p:nvSpPr>
        <p:spPr>
          <a:xfrm>
            <a:off x="1020604" y="46039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3249"/>
                </a:solidFill>
                <a:latin typeface="Kanit Light" pitchFamily="34" charset="0"/>
                <a:ea typeface="Kanit Light" pitchFamily="34" charset="-122"/>
                <a:cs typeface="Kanit Light" pitchFamily="34" charset="-120"/>
              </a:rPr>
              <a:t>Step 1: ARP Request</a:t>
            </a:r>
            <a:endParaRPr lang="en-US" sz="2200" dirty="0"/>
          </a:p>
        </p:txBody>
      </p:sp>
      <p:sp>
        <p:nvSpPr>
          <p:cNvPr id="6" name="Text 3"/>
          <p:cNvSpPr/>
          <p:nvPr/>
        </p:nvSpPr>
        <p:spPr>
          <a:xfrm>
            <a:off x="1020604" y="5094327"/>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Broadcast who is IP address.</a:t>
            </a:r>
            <a:endParaRPr lang="en-US" sz="1750" dirty="0"/>
          </a:p>
        </p:txBody>
      </p:sp>
      <p:pic>
        <p:nvPicPr>
          <p:cNvPr id="7" name="Image 1" descr="preencoded.png">    </p:cNvPr>
          <p:cNvPicPr>
            <a:picLocks noChangeAspect="1"/>
          </p:cNvPicPr>
          <p:nvPr/>
        </p:nvPicPr>
        <p:blipFill>
          <a:blip r:embed="rId2"/>
          <a:stretch>
            <a:fillRect/>
          </a:stretch>
        </p:blipFill>
        <p:spPr>
          <a:xfrm>
            <a:off x="7315200" y="3469838"/>
            <a:ext cx="6521410" cy="907256"/>
          </a:xfrm>
          <a:prstGeom prst="rect">
            <a:avLst/>
          </a:prstGeom>
        </p:spPr>
      </p:pic>
      <p:sp>
        <p:nvSpPr>
          <p:cNvPr id="8" name="Text 4"/>
          <p:cNvSpPr/>
          <p:nvPr/>
        </p:nvSpPr>
        <p:spPr>
          <a:xfrm>
            <a:off x="7542014" y="460390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C3249"/>
                </a:solidFill>
                <a:latin typeface="Kanit Light" pitchFamily="34" charset="0"/>
                <a:ea typeface="Kanit Light" pitchFamily="34" charset="-122"/>
                <a:cs typeface="Kanit Light" pitchFamily="34" charset="-120"/>
              </a:rPr>
              <a:t>Step 2: ARP Reply</a:t>
            </a:r>
            <a:endParaRPr lang="en-US" sz="2200" dirty="0"/>
          </a:p>
        </p:txBody>
      </p:sp>
      <p:sp>
        <p:nvSpPr>
          <p:cNvPr id="9" name="Text 5"/>
          <p:cNvSpPr/>
          <p:nvPr/>
        </p:nvSpPr>
        <p:spPr>
          <a:xfrm>
            <a:off x="7542014" y="5094327"/>
            <a:ext cx="6067782" cy="362903"/>
          </a:xfrm>
          <a:prstGeom prst="rect">
            <a:avLst/>
          </a:prstGeom>
          <a:noFill/>
          <a:ln/>
        </p:spPr>
        <p:txBody>
          <a:bodyPr wrap="none" lIns="0" tIns="0" rIns="0" bIns="0" rtlCol="0" anchor="t"/>
          <a:lstStyle/>
          <a:p>
            <a:pPr algn="l" indent="0" marL="0">
              <a:lnSpc>
                <a:spcPts val="2850"/>
              </a:lnSpc>
              <a:buNone/>
            </a:pPr>
            <a:r>
              <a:rPr lang="en-US" sz="1750" dirty="0">
                <a:solidFill>
                  <a:srgbClr val="2C3249"/>
                </a:solidFill>
                <a:latin typeface="Martel Sans" pitchFamily="34" charset="0"/>
                <a:ea typeface="Martel Sans" pitchFamily="34" charset="-122"/>
                <a:cs typeface="Martel Sans" pitchFamily="34" charset="-120"/>
              </a:rPr>
              <a:t>Device with that IP address sends its MAC address.</a:t>
            </a:r>
            <a:endParaRPr lang="en-US" sz="1750" dirty="0"/>
          </a:p>
        </p:txBody>
      </p:sp>
      <p:sp>
        <p:nvSpPr>
          <p:cNvPr id="10" name="Shape 6"/>
          <p:cNvSpPr/>
          <p:nvPr/>
        </p:nvSpPr>
        <p:spPr>
          <a:xfrm>
            <a:off x="793790" y="5939195"/>
            <a:ext cx="13042821" cy="963811"/>
          </a:xfrm>
          <a:prstGeom prst="roundRect">
            <a:avLst>
              <a:gd name="adj" fmla="val 9884"/>
            </a:avLst>
          </a:prstGeom>
          <a:solidFill>
            <a:srgbClr val="CFE2DE"/>
          </a:solidFill>
          <a:ln/>
        </p:spPr>
      </p:sp>
      <p:pic>
        <p:nvPicPr>
          <p:cNvPr id="11" name="Image 2" descr="preencoded.png">    </p:cNvPr>
          <p:cNvPicPr>
            <a:picLocks noChangeAspect="1"/>
          </p:cNvPicPr>
          <p:nvPr/>
        </p:nvPicPr>
        <p:blipFill>
          <a:blip r:embed="rId3"/>
          <a:stretch>
            <a:fillRect/>
          </a:stretch>
        </p:blipFill>
        <p:spPr>
          <a:xfrm>
            <a:off x="1020604" y="6252805"/>
            <a:ext cx="283488" cy="226814"/>
          </a:xfrm>
          <a:prstGeom prst="rect">
            <a:avLst/>
          </a:prstGeom>
        </p:spPr>
      </p:pic>
      <p:sp>
        <p:nvSpPr>
          <p:cNvPr id="12" name="Text 7"/>
          <p:cNvSpPr/>
          <p:nvPr/>
        </p:nvSpPr>
        <p:spPr>
          <a:xfrm>
            <a:off x="1530906" y="6222683"/>
            <a:ext cx="12078891" cy="362903"/>
          </a:xfrm>
          <a:prstGeom prst="rect">
            <a:avLst/>
          </a:prstGeom>
          <a:noFill/>
          <a:ln/>
        </p:spPr>
        <p:txBody>
          <a:bodyPr wrap="none" lIns="0" tIns="0" rIns="0" bIns="0" rtlCol="0" anchor="t"/>
          <a:lstStyle/>
          <a:p>
            <a:pPr algn="l" indent="0" marL="0">
              <a:lnSpc>
                <a:spcPts val="2850"/>
              </a:lnSpc>
              <a:buNone/>
            </a:pPr>
            <a:r>
              <a:rPr lang="en-US" sz="1750" b="1" dirty="0">
                <a:solidFill>
                  <a:srgbClr val="000000"/>
                </a:solidFill>
                <a:latin typeface="Martel Sans" pitchFamily="34" charset="0"/>
                <a:ea typeface="Martel Sans" pitchFamily="34" charset="-122"/>
                <a:cs typeface="Martel Sans" pitchFamily="34" charset="-120"/>
              </a:rPr>
              <a:t>ARP Cache:</a:t>
            </a:r>
            <a:pPr algn="l" indent="0" marL="0">
              <a:lnSpc>
                <a:spcPts val="2850"/>
              </a:lnSpc>
              <a:buNone/>
            </a:pPr>
            <a:r>
              <a:rPr lang="en-US" sz="1750" dirty="0">
                <a:solidFill>
                  <a:srgbClr val="000000"/>
                </a:solidFill>
                <a:latin typeface="Martel Sans" pitchFamily="34" charset="0"/>
                <a:ea typeface="Martel Sans" pitchFamily="34" charset="-122"/>
                <a:cs typeface="Martel Sans" pitchFamily="34" charset="-120"/>
              </a:rPr>
              <a:t> IP-MAC mapping is stored in the ARP Cache.</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402449" y="3118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Subnetting</a:t>
            </a:r>
            <a:endParaRPr lang="en-US" sz="2200" dirty="0"/>
          </a:p>
        </p:txBody>
      </p:sp>
      <p:sp>
        <p:nvSpPr>
          <p:cNvPr id="3" name="Text 1"/>
          <p:cNvSpPr/>
          <p:nvPr/>
        </p:nvSpPr>
        <p:spPr>
          <a:xfrm>
            <a:off x="3402449" y="779502"/>
            <a:ext cx="7825502"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Subnetting is the process of dividing larger network into smaller network or subnet.</a:t>
            </a:r>
            <a:endParaRPr lang="en-US" sz="850" dirty="0"/>
          </a:p>
        </p:txBody>
      </p:sp>
      <p:sp>
        <p:nvSpPr>
          <p:cNvPr id="4" name="Shape 2"/>
          <p:cNvSpPr/>
          <p:nvPr/>
        </p:nvSpPr>
        <p:spPr>
          <a:xfrm>
            <a:off x="3402449" y="979289"/>
            <a:ext cx="3884414" cy="1394222"/>
          </a:xfrm>
          <a:prstGeom prst="roundRect">
            <a:avLst>
              <a:gd name="adj" fmla="val 3417"/>
            </a:avLst>
          </a:prstGeom>
          <a:solidFill>
            <a:srgbClr val="DFECE9"/>
          </a:solidFill>
          <a:ln w="7620">
            <a:solidFill>
              <a:srgbClr val="C5D2CF"/>
            </a:solidFill>
            <a:prstDash val="solid"/>
          </a:ln>
        </p:spPr>
      </p:sp>
      <p:sp>
        <p:nvSpPr>
          <p:cNvPr id="5" name="Shape 3"/>
          <p:cNvSpPr/>
          <p:nvPr/>
        </p:nvSpPr>
        <p:spPr>
          <a:xfrm>
            <a:off x="3523417" y="1100257"/>
            <a:ext cx="340162" cy="340162"/>
          </a:xfrm>
          <a:prstGeom prst="roundRect">
            <a:avLst>
              <a:gd name="adj" fmla="val 26878621"/>
            </a:avLst>
          </a:prstGeom>
          <a:solidFill>
            <a:srgbClr val="437066"/>
          </a:solidFill>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617000" y="1193840"/>
            <a:ext cx="152995" cy="152995"/>
          </a:xfrm>
          <a:prstGeom prst="rect">
            <a:avLst/>
          </a:prstGeom>
        </p:spPr>
      </p:pic>
      <p:sp>
        <p:nvSpPr>
          <p:cNvPr id="7" name="Text 4"/>
          <p:cNvSpPr/>
          <p:nvPr/>
        </p:nvSpPr>
        <p:spPr>
          <a:xfrm>
            <a:off x="3523417" y="1497092"/>
            <a:ext cx="1882140"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Improve Network Performance</a:t>
            </a:r>
            <a:endParaRPr lang="en-US" sz="1100" dirty="0"/>
          </a:p>
        </p:txBody>
      </p:sp>
      <p:sp>
        <p:nvSpPr>
          <p:cNvPr id="8" name="Shape 5"/>
          <p:cNvSpPr/>
          <p:nvPr/>
        </p:nvSpPr>
        <p:spPr>
          <a:xfrm>
            <a:off x="7343537" y="979289"/>
            <a:ext cx="3884414" cy="1394222"/>
          </a:xfrm>
          <a:prstGeom prst="roundRect">
            <a:avLst>
              <a:gd name="adj" fmla="val 3417"/>
            </a:avLst>
          </a:prstGeom>
          <a:solidFill>
            <a:srgbClr val="DFECE9"/>
          </a:solidFill>
          <a:ln w="7620">
            <a:solidFill>
              <a:srgbClr val="C5D2CF"/>
            </a:solidFill>
            <a:prstDash val="solid"/>
          </a:ln>
        </p:spPr>
      </p:sp>
      <p:sp>
        <p:nvSpPr>
          <p:cNvPr id="9" name="Shape 6"/>
          <p:cNvSpPr/>
          <p:nvPr/>
        </p:nvSpPr>
        <p:spPr>
          <a:xfrm>
            <a:off x="7464504" y="1100257"/>
            <a:ext cx="340162" cy="340162"/>
          </a:xfrm>
          <a:prstGeom prst="roundRect">
            <a:avLst>
              <a:gd name="adj" fmla="val 26878621"/>
            </a:avLst>
          </a:prstGeom>
          <a:solidFill>
            <a:srgbClr val="437066"/>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8088" y="1193840"/>
            <a:ext cx="152995" cy="152995"/>
          </a:xfrm>
          <a:prstGeom prst="rect">
            <a:avLst/>
          </a:prstGeom>
        </p:spPr>
      </p:pic>
      <p:sp>
        <p:nvSpPr>
          <p:cNvPr id="11" name="Text 7"/>
          <p:cNvSpPr/>
          <p:nvPr/>
        </p:nvSpPr>
        <p:spPr>
          <a:xfrm>
            <a:off x="7464504" y="149709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Enhanced Security</a:t>
            </a:r>
            <a:endParaRPr lang="en-US" sz="1100" dirty="0"/>
          </a:p>
        </p:txBody>
      </p:sp>
      <p:sp>
        <p:nvSpPr>
          <p:cNvPr id="12" name="Text 8"/>
          <p:cNvSpPr/>
          <p:nvPr/>
        </p:nvSpPr>
        <p:spPr>
          <a:xfrm>
            <a:off x="7464504" y="1708190"/>
            <a:ext cx="3642479"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Like firewall or access control list. This working is different department using different subnet placed. Example: guest wifi subnet and HR server subnet. A guest subnet only access for only providing subnet. HR server blocked that guest subnet blocked.</a:t>
            </a:r>
            <a:endParaRPr lang="en-US" sz="850" dirty="0"/>
          </a:p>
        </p:txBody>
      </p:sp>
      <p:sp>
        <p:nvSpPr>
          <p:cNvPr id="13" name="Shape 9"/>
          <p:cNvSpPr/>
          <p:nvPr/>
        </p:nvSpPr>
        <p:spPr>
          <a:xfrm>
            <a:off x="3402449" y="2430185"/>
            <a:ext cx="3884414" cy="815935"/>
          </a:xfrm>
          <a:prstGeom prst="roundRect">
            <a:avLst>
              <a:gd name="adj" fmla="val 5838"/>
            </a:avLst>
          </a:prstGeom>
          <a:solidFill>
            <a:srgbClr val="DFECE9"/>
          </a:solidFill>
          <a:ln w="7620">
            <a:solidFill>
              <a:srgbClr val="C5D2CF"/>
            </a:solidFill>
            <a:prstDash val="solid"/>
          </a:ln>
        </p:spPr>
      </p:sp>
      <p:sp>
        <p:nvSpPr>
          <p:cNvPr id="14" name="Shape 10"/>
          <p:cNvSpPr/>
          <p:nvPr/>
        </p:nvSpPr>
        <p:spPr>
          <a:xfrm>
            <a:off x="3523417" y="2551152"/>
            <a:ext cx="340162" cy="340162"/>
          </a:xfrm>
          <a:prstGeom prst="roundRect">
            <a:avLst>
              <a:gd name="adj" fmla="val 26878621"/>
            </a:avLst>
          </a:prstGeom>
          <a:solidFill>
            <a:srgbClr val="437066"/>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17000" y="2644735"/>
            <a:ext cx="152995" cy="152995"/>
          </a:xfrm>
          <a:prstGeom prst="rect">
            <a:avLst/>
          </a:prstGeom>
        </p:spPr>
      </p:pic>
      <p:sp>
        <p:nvSpPr>
          <p:cNvPr id="16" name="Text 11"/>
          <p:cNvSpPr/>
          <p:nvPr/>
        </p:nvSpPr>
        <p:spPr>
          <a:xfrm>
            <a:off x="3523417" y="2947988"/>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Troubleshoot</a:t>
            </a:r>
            <a:endParaRPr lang="en-US" sz="1100" dirty="0"/>
          </a:p>
        </p:txBody>
      </p:sp>
      <p:sp>
        <p:nvSpPr>
          <p:cNvPr id="17" name="Shape 12"/>
          <p:cNvSpPr/>
          <p:nvPr/>
        </p:nvSpPr>
        <p:spPr>
          <a:xfrm>
            <a:off x="7343537" y="2430185"/>
            <a:ext cx="3884414" cy="815935"/>
          </a:xfrm>
          <a:prstGeom prst="roundRect">
            <a:avLst>
              <a:gd name="adj" fmla="val 5838"/>
            </a:avLst>
          </a:prstGeom>
          <a:solidFill>
            <a:srgbClr val="DFECE9"/>
          </a:solidFill>
          <a:ln w="7620">
            <a:solidFill>
              <a:srgbClr val="C5D2CF"/>
            </a:solidFill>
            <a:prstDash val="solid"/>
          </a:ln>
        </p:spPr>
      </p:sp>
      <p:sp>
        <p:nvSpPr>
          <p:cNvPr id="18" name="Shape 13"/>
          <p:cNvSpPr/>
          <p:nvPr/>
        </p:nvSpPr>
        <p:spPr>
          <a:xfrm>
            <a:off x="7464504" y="2551152"/>
            <a:ext cx="340162" cy="340162"/>
          </a:xfrm>
          <a:prstGeom prst="roundRect">
            <a:avLst>
              <a:gd name="adj" fmla="val 26878621"/>
            </a:avLst>
          </a:prstGeom>
          <a:solidFill>
            <a:srgbClr val="437066"/>
          </a:solidFill>
          <a:ln/>
        </p:spPr>
      </p:sp>
      <p:pic>
        <p:nvPicPr>
          <p:cNvPr id="1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58088" y="2644735"/>
            <a:ext cx="152995" cy="152995"/>
          </a:xfrm>
          <a:prstGeom prst="rect">
            <a:avLst/>
          </a:prstGeom>
        </p:spPr>
      </p:pic>
      <p:sp>
        <p:nvSpPr>
          <p:cNvPr id="20" name="Text 14"/>
          <p:cNvSpPr/>
          <p:nvPr/>
        </p:nvSpPr>
        <p:spPr>
          <a:xfrm>
            <a:off x="7464504" y="2947988"/>
            <a:ext cx="192047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Preventing Waste of IP Address</a:t>
            </a:r>
            <a:endParaRPr lang="en-US" sz="1100" dirty="0"/>
          </a:p>
        </p:txBody>
      </p:sp>
      <p:sp>
        <p:nvSpPr>
          <p:cNvPr id="21" name="Text 15"/>
          <p:cNvSpPr/>
          <p:nvPr/>
        </p:nvSpPr>
        <p:spPr>
          <a:xfrm>
            <a:off x="3402449" y="3331131"/>
            <a:ext cx="2865001"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Subnetting Providing Different Classes</a:t>
            </a:r>
            <a:endParaRPr lang="en-US" sz="1300" dirty="0"/>
          </a:p>
        </p:txBody>
      </p:sp>
      <p:sp>
        <p:nvSpPr>
          <p:cNvPr id="22" name="Shape 16"/>
          <p:cNvSpPr/>
          <p:nvPr/>
        </p:nvSpPr>
        <p:spPr>
          <a:xfrm>
            <a:off x="3402449" y="3628787"/>
            <a:ext cx="7825502" cy="1330404"/>
          </a:xfrm>
          <a:prstGeom prst="roundRect">
            <a:avLst>
              <a:gd name="adj" fmla="val 3580"/>
            </a:avLst>
          </a:prstGeom>
          <a:noFill/>
          <a:ln w="7620">
            <a:solidFill>
              <a:srgbClr val="000000">
                <a:alpha val="8000"/>
              </a:srgbClr>
            </a:solidFill>
            <a:prstDash val="solid"/>
          </a:ln>
        </p:spPr>
      </p:sp>
      <p:sp>
        <p:nvSpPr>
          <p:cNvPr id="23" name="Shape 17"/>
          <p:cNvSpPr/>
          <p:nvPr/>
        </p:nvSpPr>
        <p:spPr>
          <a:xfrm>
            <a:off x="3410069" y="3636407"/>
            <a:ext cx="7810262" cy="219194"/>
          </a:xfrm>
          <a:prstGeom prst="rect">
            <a:avLst/>
          </a:prstGeom>
          <a:solidFill>
            <a:srgbClr val="FFFFFF">
              <a:alpha val="4000"/>
            </a:srgbClr>
          </a:solidFill>
          <a:ln/>
        </p:spPr>
      </p:sp>
      <p:sp>
        <p:nvSpPr>
          <p:cNvPr id="24" name="Text 18"/>
          <p:cNvSpPr/>
          <p:nvPr/>
        </p:nvSpPr>
        <p:spPr>
          <a:xfrm>
            <a:off x="3523655" y="3677960"/>
            <a:ext cx="940951"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Class</a:t>
            </a:r>
            <a:endParaRPr lang="en-US" sz="850" dirty="0"/>
          </a:p>
        </p:txBody>
      </p:sp>
      <p:sp>
        <p:nvSpPr>
          <p:cNvPr id="25" name="Text 19"/>
          <p:cNvSpPr/>
          <p:nvPr/>
        </p:nvSpPr>
        <p:spPr>
          <a:xfrm>
            <a:off x="4698921" y="3677960"/>
            <a:ext cx="1327666"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Range of First Octet</a:t>
            </a:r>
            <a:endParaRPr lang="en-US" sz="850" dirty="0"/>
          </a:p>
        </p:txBody>
      </p:sp>
      <p:sp>
        <p:nvSpPr>
          <p:cNvPr id="26" name="Text 20"/>
          <p:cNvSpPr/>
          <p:nvPr/>
        </p:nvSpPr>
        <p:spPr>
          <a:xfrm>
            <a:off x="6260902" y="3677960"/>
            <a:ext cx="2499241"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Purpose</a:t>
            </a:r>
            <a:endParaRPr lang="en-US" sz="850" dirty="0"/>
          </a:p>
        </p:txBody>
      </p:sp>
      <p:sp>
        <p:nvSpPr>
          <p:cNvPr id="27" name="Text 21"/>
          <p:cNvSpPr/>
          <p:nvPr/>
        </p:nvSpPr>
        <p:spPr>
          <a:xfrm>
            <a:off x="8994458" y="3677960"/>
            <a:ext cx="2112526"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Default Subnet Mask</a:t>
            </a:r>
            <a:endParaRPr lang="en-US" sz="850" dirty="0"/>
          </a:p>
        </p:txBody>
      </p:sp>
      <p:sp>
        <p:nvSpPr>
          <p:cNvPr id="28" name="Shape 22"/>
          <p:cNvSpPr/>
          <p:nvPr/>
        </p:nvSpPr>
        <p:spPr>
          <a:xfrm>
            <a:off x="3410069" y="3855601"/>
            <a:ext cx="7810262" cy="219194"/>
          </a:xfrm>
          <a:prstGeom prst="rect">
            <a:avLst/>
          </a:prstGeom>
          <a:solidFill>
            <a:srgbClr val="000000">
              <a:alpha val="4000"/>
            </a:srgbClr>
          </a:solidFill>
          <a:ln/>
        </p:spPr>
      </p:sp>
      <p:sp>
        <p:nvSpPr>
          <p:cNvPr id="29" name="Text 23"/>
          <p:cNvSpPr/>
          <p:nvPr/>
        </p:nvSpPr>
        <p:spPr>
          <a:xfrm>
            <a:off x="3523655" y="3897154"/>
            <a:ext cx="94095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Class A</a:t>
            </a:r>
            <a:endParaRPr lang="en-US" sz="850" dirty="0"/>
          </a:p>
        </p:txBody>
      </p:sp>
      <p:sp>
        <p:nvSpPr>
          <p:cNvPr id="30" name="Text 24"/>
          <p:cNvSpPr/>
          <p:nvPr/>
        </p:nvSpPr>
        <p:spPr>
          <a:xfrm>
            <a:off x="4698921" y="3897154"/>
            <a:ext cx="132766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1 – 127</a:t>
            </a:r>
            <a:endParaRPr lang="en-US" sz="850" dirty="0"/>
          </a:p>
        </p:txBody>
      </p:sp>
      <p:sp>
        <p:nvSpPr>
          <p:cNvPr id="31" name="Text 25"/>
          <p:cNvSpPr/>
          <p:nvPr/>
        </p:nvSpPr>
        <p:spPr>
          <a:xfrm>
            <a:off x="6260902" y="3897154"/>
            <a:ext cx="249924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Huge networks (governments, ISPs)</a:t>
            </a:r>
            <a:endParaRPr lang="en-US" sz="850" dirty="0"/>
          </a:p>
        </p:txBody>
      </p:sp>
      <p:sp>
        <p:nvSpPr>
          <p:cNvPr id="32" name="Text 26"/>
          <p:cNvSpPr/>
          <p:nvPr/>
        </p:nvSpPr>
        <p:spPr>
          <a:xfrm>
            <a:off x="8994458" y="3897154"/>
            <a:ext cx="211252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255.0.0.0</a:t>
            </a:r>
            <a:endParaRPr lang="en-US" sz="850" dirty="0"/>
          </a:p>
        </p:txBody>
      </p:sp>
      <p:sp>
        <p:nvSpPr>
          <p:cNvPr id="33" name="Shape 27"/>
          <p:cNvSpPr/>
          <p:nvPr/>
        </p:nvSpPr>
        <p:spPr>
          <a:xfrm>
            <a:off x="3410069" y="4074795"/>
            <a:ext cx="7810262" cy="219194"/>
          </a:xfrm>
          <a:prstGeom prst="rect">
            <a:avLst/>
          </a:prstGeom>
          <a:solidFill>
            <a:srgbClr val="FFFFFF">
              <a:alpha val="4000"/>
            </a:srgbClr>
          </a:solidFill>
          <a:ln/>
        </p:spPr>
      </p:sp>
      <p:sp>
        <p:nvSpPr>
          <p:cNvPr id="34" name="Text 28"/>
          <p:cNvSpPr/>
          <p:nvPr/>
        </p:nvSpPr>
        <p:spPr>
          <a:xfrm>
            <a:off x="3523655" y="4116348"/>
            <a:ext cx="94095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Class B</a:t>
            </a:r>
            <a:endParaRPr lang="en-US" sz="850" dirty="0"/>
          </a:p>
        </p:txBody>
      </p:sp>
      <p:sp>
        <p:nvSpPr>
          <p:cNvPr id="35" name="Text 29"/>
          <p:cNvSpPr/>
          <p:nvPr/>
        </p:nvSpPr>
        <p:spPr>
          <a:xfrm>
            <a:off x="4698921" y="4116348"/>
            <a:ext cx="132766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128 – 191</a:t>
            </a:r>
            <a:endParaRPr lang="en-US" sz="850" dirty="0"/>
          </a:p>
        </p:txBody>
      </p:sp>
      <p:sp>
        <p:nvSpPr>
          <p:cNvPr id="36" name="Text 30"/>
          <p:cNvSpPr/>
          <p:nvPr/>
        </p:nvSpPr>
        <p:spPr>
          <a:xfrm>
            <a:off x="6260902" y="4116348"/>
            <a:ext cx="249924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Medium networks (large universities/corps)</a:t>
            </a:r>
            <a:endParaRPr lang="en-US" sz="850" dirty="0"/>
          </a:p>
        </p:txBody>
      </p:sp>
      <p:sp>
        <p:nvSpPr>
          <p:cNvPr id="37" name="Text 31"/>
          <p:cNvSpPr/>
          <p:nvPr/>
        </p:nvSpPr>
        <p:spPr>
          <a:xfrm>
            <a:off x="8994458" y="4116348"/>
            <a:ext cx="211252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255.255.0.0</a:t>
            </a:r>
            <a:endParaRPr lang="en-US" sz="850" dirty="0"/>
          </a:p>
        </p:txBody>
      </p:sp>
      <p:sp>
        <p:nvSpPr>
          <p:cNvPr id="38" name="Shape 32"/>
          <p:cNvSpPr/>
          <p:nvPr/>
        </p:nvSpPr>
        <p:spPr>
          <a:xfrm>
            <a:off x="3410069" y="4293989"/>
            <a:ext cx="7810262" cy="219194"/>
          </a:xfrm>
          <a:prstGeom prst="rect">
            <a:avLst/>
          </a:prstGeom>
          <a:solidFill>
            <a:srgbClr val="000000">
              <a:alpha val="4000"/>
            </a:srgbClr>
          </a:solidFill>
          <a:ln/>
        </p:spPr>
      </p:sp>
      <p:sp>
        <p:nvSpPr>
          <p:cNvPr id="39" name="Text 33"/>
          <p:cNvSpPr/>
          <p:nvPr/>
        </p:nvSpPr>
        <p:spPr>
          <a:xfrm>
            <a:off x="3523655" y="4335542"/>
            <a:ext cx="94095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Class C</a:t>
            </a:r>
            <a:endParaRPr lang="en-US" sz="850" dirty="0"/>
          </a:p>
        </p:txBody>
      </p:sp>
      <p:sp>
        <p:nvSpPr>
          <p:cNvPr id="40" name="Text 34"/>
          <p:cNvSpPr/>
          <p:nvPr/>
        </p:nvSpPr>
        <p:spPr>
          <a:xfrm>
            <a:off x="4698921" y="4335542"/>
            <a:ext cx="132766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192 – 223</a:t>
            </a:r>
            <a:endParaRPr lang="en-US" sz="850" dirty="0"/>
          </a:p>
        </p:txBody>
      </p:sp>
      <p:sp>
        <p:nvSpPr>
          <p:cNvPr id="41" name="Text 35"/>
          <p:cNvSpPr/>
          <p:nvPr/>
        </p:nvSpPr>
        <p:spPr>
          <a:xfrm>
            <a:off x="6260902" y="4335542"/>
            <a:ext cx="249924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Small networks (home/small business)</a:t>
            </a:r>
            <a:endParaRPr lang="en-US" sz="850" dirty="0"/>
          </a:p>
        </p:txBody>
      </p:sp>
      <p:sp>
        <p:nvSpPr>
          <p:cNvPr id="42" name="Text 36"/>
          <p:cNvSpPr/>
          <p:nvPr/>
        </p:nvSpPr>
        <p:spPr>
          <a:xfrm>
            <a:off x="8994458" y="4335542"/>
            <a:ext cx="211252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255.255.255.0</a:t>
            </a:r>
            <a:endParaRPr lang="en-US" sz="850" dirty="0"/>
          </a:p>
        </p:txBody>
      </p:sp>
      <p:sp>
        <p:nvSpPr>
          <p:cNvPr id="43" name="Shape 37"/>
          <p:cNvSpPr/>
          <p:nvPr/>
        </p:nvSpPr>
        <p:spPr>
          <a:xfrm>
            <a:off x="3410069" y="4513183"/>
            <a:ext cx="7810262" cy="219194"/>
          </a:xfrm>
          <a:prstGeom prst="rect">
            <a:avLst/>
          </a:prstGeom>
          <a:solidFill>
            <a:srgbClr val="FFFFFF">
              <a:alpha val="4000"/>
            </a:srgbClr>
          </a:solidFill>
          <a:ln/>
        </p:spPr>
      </p:sp>
      <p:sp>
        <p:nvSpPr>
          <p:cNvPr id="44" name="Text 38"/>
          <p:cNvSpPr/>
          <p:nvPr/>
        </p:nvSpPr>
        <p:spPr>
          <a:xfrm>
            <a:off x="3523655" y="4554736"/>
            <a:ext cx="94095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Class D</a:t>
            </a:r>
            <a:endParaRPr lang="en-US" sz="850" dirty="0"/>
          </a:p>
        </p:txBody>
      </p:sp>
      <p:sp>
        <p:nvSpPr>
          <p:cNvPr id="45" name="Text 39"/>
          <p:cNvSpPr/>
          <p:nvPr/>
        </p:nvSpPr>
        <p:spPr>
          <a:xfrm>
            <a:off x="4698921" y="4554736"/>
            <a:ext cx="132766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224 – 239</a:t>
            </a:r>
            <a:endParaRPr lang="en-US" sz="850" dirty="0"/>
          </a:p>
        </p:txBody>
      </p:sp>
      <p:sp>
        <p:nvSpPr>
          <p:cNvPr id="46" name="Text 40"/>
          <p:cNvSpPr/>
          <p:nvPr/>
        </p:nvSpPr>
        <p:spPr>
          <a:xfrm>
            <a:off x="6260902" y="4554736"/>
            <a:ext cx="249924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Multicasting (not for hosts)</a:t>
            </a:r>
            <a:endParaRPr lang="en-US" sz="850" dirty="0"/>
          </a:p>
        </p:txBody>
      </p:sp>
      <p:sp>
        <p:nvSpPr>
          <p:cNvPr id="47" name="Text 41"/>
          <p:cNvSpPr/>
          <p:nvPr/>
        </p:nvSpPr>
        <p:spPr>
          <a:xfrm>
            <a:off x="8994458" y="4554736"/>
            <a:ext cx="211252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N/A</a:t>
            </a:r>
            <a:endParaRPr lang="en-US" sz="850" dirty="0"/>
          </a:p>
        </p:txBody>
      </p:sp>
      <p:sp>
        <p:nvSpPr>
          <p:cNvPr id="48" name="Shape 42"/>
          <p:cNvSpPr/>
          <p:nvPr/>
        </p:nvSpPr>
        <p:spPr>
          <a:xfrm>
            <a:off x="3410069" y="4732377"/>
            <a:ext cx="7810262" cy="219194"/>
          </a:xfrm>
          <a:prstGeom prst="rect">
            <a:avLst/>
          </a:prstGeom>
          <a:solidFill>
            <a:srgbClr val="000000">
              <a:alpha val="4000"/>
            </a:srgbClr>
          </a:solidFill>
          <a:ln/>
        </p:spPr>
      </p:sp>
      <p:sp>
        <p:nvSpPr>
          <p:cNvPr id="49" name="Text 43"/>
          <p:cNvSpPr/>
          <p:nvPr/>
        </p:nvSpPr>
        <p:spPr>
          <a:xfrm>
            <a:off x="3523655" y="4773930"/>
            <a:ext cx="94095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Class E</a:t>
            </a:r>
            <a:endParaRPr lang="en-US" sz="850" dirty="0"/>
          </a:p>
        </p:txBody>
      </p:sp>
      <p:sp>
        <p:nvSpPr>
          <p:cNvPr id="50" name="Text 44"/>
          <p:cNvSpPr/>
          <p:nvPr/>
        </p:nvSpPr>
        <p:spPr>
          <a:xfrm>
            <a:off x="4698921" y="4773930"/>
            <a:ext cx="132766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240 – 255</a:t>
            </a:r>
            <a:endParaRPr lang="en-US" sz="850" dirty="0"/>
          </a:p>
        </p:txBody>
      </p:sp>
      <p:sp>
        <p:nvSpPr>
          <p:cNvPr id="51" name="Text 45"/>
          <p:cNvSpPr/>
          <p:nvPr/>
        </p:nvSpPr>
        <p:spPr>
          <a:xfrm>
            <a:off x="6260902" y="4773930"/>
            <a:ext cx="2499241"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Experimental/Research</a:t>
            </a:r>
            <a:endParaRPr lang="en-US" sz="850" dirty="0"/>
          </a:p>
        </p:txBody>
      </p:sp>
      <p:sp>
        <p:nvSpPr>
          <p:cNvPr id="52" name="Text 46"/>
          <p:cNvSpPr/>
          <p:nvPr/>
        </p:nvSpPr>
        <p:spPr>
          <a:xfrm>
            <a:off x="8994458" y="4773930"/>
            <a:ext cx="2112526"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N/A</a:t>
            </a:r>
            <a:endParaRPr lang="en-US" sz="850" dirty="0"/>
          </a:p>
        </p:txBody>
      </p:sp>
      <p:sp>
        <p:nvSpPr>
          <p:cNvPr id="53" name="Text 47"/>
          <p:cNvSpPr/>
          <p:nvPr/>
        </p:nvSpPr>
        <p:spPr>
          <a:xfrm>
            <a:off x="3402449" y="5022890"/>
            <a:ext cx="7825502"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class is using identify network part and host part.</a:t>
            </a:r>
            <a:endParaRPr lang="en-US" sz="850" dirty="0"/>
          </a:p>
        </p:txBody>
      </p:sp>
      <p:sp>
        <p:nvSpPr>
          <p:cNvPr id="54" name="Shape 48"/>
          <p:cNvSpPr/>
          <p:nvPr/>
        </p:nvSpPr>
        <p:spPr>
          <a:xfrm>
            <a:off x="3402449" y="5222677"/>
            <a:ext cx="7825502" cy="714375"/>
          </a:xfrm>
          <a:prstGeom prst="roundRect">
            <a:avLst>
              <a:gd name="adj" fmla="val 6668"/>
            </a:avLst>
          </a:prstGeom>
          <a:solidFill>
            <a:srgbClr val="F2F2F2"/>
          </a:solidFill>
          <a:ln/>
        </p:spPr>
      </p:sp>
      <p:sp>
        <p:nvSpPr>
          <p:cNvPr id="55" name="Shape 49"/>
          <p:cNvSpPr/>
          <p:nvPr/>
        </p:nvSpPr>
        <p:spPr>
          <a:xfrm>
            <a:off x="3396853" y="5222677"/>
            <a:ext cx="7836694" cy="714375"/>
          </a:xfrm>
          <a:prstGeom prst="roundRect">
            <a:avLst>
              <a:gd name="adj" fmla="val 2381"/>
            </a:avLst>
          </a:prstGeom>
          <a:solidFill>
            <a:srgbClr val="F2F2F2"/>
          </a:solidFill>
          <a:ln/>
        </p:spPr>
      </p:sp>
      <p:sp>
        <p:nvSpPr>
          <p:cNvPr id="56" name="Text 50"/>
          <p:cNvSpPr/>
          <p:nvPr/>
        </p:nvSpPr>
        <p:spPr>
          <a:xfrm>
            <a:off x="3510201" y="5307687"/>
            <a:ext cx="7609999"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highlight>
                  <a:srgbClr val="F2F2F2"/>
                </a:highlight>
                <a:latin typeface="Consolas" pitchFamily="34" charset="0"/>
                <a:ea typeface="Consolas" pitchFamily="34" charset="-122"/>
                <a:cs typeface="Consolas" pitchFamily="34" charset="-120"/>
              </a:rPr>
              <a:t>Class A: 1 1 1 1 1 1 1 1 . 0 0 0 0 0 0 0 0 . 0 0 0 0 0 0 0 0 . 0 0 0 0 0 0 0 0
Class B: 1 1 1 1 1 1 1 1 . 1 1 1 1 1 1 1 1 . 0 0 0 0 0 0 0 0 . 0 0 0 0 0 0 0 0
Class C: 1 1 1 1 1 1 1 1 . 1 1 1 1 1 1 1 1 . 1 1 1 1 1 1 1 1 . 0 0 0 0 0 0 0 0
</a:t>
            </a:r>
            <a:endParaRPr lang="en-US" sz="850" dirty="0"/>
          </a:p>
        </p:txBody>
      </p:sp>
      <p:sp>
        <p:nvSpPr>
          <p:cNvPr id="57" name="Text 51"/>
          <p:cNvSpPr/>
          <p:nvPr/>
        </p:nvSpPr>
        <p:spPr>
          <a:xfrm>
            <a:off x="3402449" y="6022062"/>
            <a:ext cx="3026807"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The Seven Characteristics for Subnetting</a:t>
            </a:r>
            <a:endParaRPr lang="en-US" sz="1300" dirty="0"/>
          </a:p>
        </p:txBody>
      </p:sp>
      <p:sp>
        <p:nvSpPr>
          <p:cNvPr id="58" name="Shape 52"/>
          <p:cNvSpPr/>
          <p:nvPr/>
        </p:nvSpPr>
        <p:spPr>
          <a:xfrm>
            <a:off x="3402449" y="6379964"/>
            <a:ext cx="56674" cy="56674"/>
          </a:xfrm>
          <a:prstGeom prst="roundRect">
            <a:avLst>
              <a:gd name="adj" fmla="val 806719"/>
            </a:avLst>
          </a:prstGeom>
          <a:solidFill>
            <a:srgbClr val="437066"/>
          </a:solidFill>
          <a:ln/>
        </p:spPr>
      </p:sp>
      <p:sp>
        <p:nvSpPr>
          <p:cNvPr id="59" name="Text 53"/>
          <p:cNvSpPr/>
          <p:nvPr/>
        </p:nvSpPr>
        <p:spPr>
          <a:xfrm>
            <a:off x="3515797" y="6319718"/>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Network ID</a:t>
            </a:r>
            <a:endParaRPr lang="en-US" sz="1100" dirty="0"/>
          </a:p>
        </p:txBody>
      </p:sp>
      <p:sp>
        <p:nvSpPr>
          <p:cNvPr id="60" name="Text 54"/>
          <p:cNvSpPr/>
          <p:nvPr/>
        </p:nvSpPr>
        <p:spPr>
          <a:xfrm>
            <a:off x="3515797" y="6530816"/>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is the first IP address in each subnet</a:t>
            </a:r>
            <a:endParaRPr lang="en-US" sz="850" dirty="0"/>
          </a:p>
        </p:txBody>
      </p:sp>
      <p:sp>
        <p:nvSpPr>
          <p:cNvPr id="61" name="Shape 55"/>
          <p:cNvSpPr/>
          <p:nvPr/>
        </p:nvSpPr>
        <p:spPr>
          <a:xfrm>
            <a:off x="3402449" y="6840498"/>
            <a:ext cx="56674" cy="56674"/>
          </a:xfrm>
          <a:prstGeom prst="roundRect">
            <a:avLst>
              <a:gd name="adj" fmla="val 806719"/>
            </a:avLst>
          </a:prstGeom>
          <a:solidFill>
            <a:srgbClr val="437066"/>
          </a:solidFill>
          <a:ln/>
        </p:spPr>
      </p:sp>
      <p:sp>
        <p:nvSpPr>
          <p:cNvPr id="62" name="Text 56"/>
          <p:cNvSpPr/>
          <p:nvPr/>
        </p:nvSpPr>
        <p:spPr>
          <a:xfrm>
            <a:off x="3515797" y="678025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Broadcast ID</a:t>
            </a:r>
            <a:endParaRPr lang="en-US" sz="1100" dirty="0"/>
          </a:p>
        </p:txBody>
      </p:sp>
      <p:sp>
        <p:nvSpPr>
          <p:cNvPr id="63" name="Text 57"/>
          <p:cNvSpPr/>
          <p:nvPr/>
        </p:nvSpPr>
        <p:spPr>
          <a:xfrm>
            <a:off x="3515797" y="6991350"/>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is the last IP address in each subnet</a:t>
            </a:r>
            <a:endParaRPr lang="en-US" sz="850" dirty="0"/>
          </a:p>
        </p:txBody>
      </p:sp>
      <p:sp>
        <p:nvSpPr>
          <p:cNvPr id="64" name="Shape 58"/>
          <p:cNvSpPr/>
          <p:nvPr/>
        </p:nvSpPr>
        <p:spPr>
          <a:xfrm>
            <a:off x="3402449" y="7301032"/>
            <a:ext cx="56674" cy="56674"/>
          </a:xfrm>
          <a:prstGeom prst="roundRect">
            <a:avLst>
              <a:gd name="adj" fmla="val 806719"/>
            </a:avLst>
          </a:prstGeom>
          <a:solidFill>
            <a:srgbClr val="437066"/>
          </a:solidFill>
          <a:ln/>
        </p:spPr>
      </p:sp>
      <p:sp>
        <p:nvSpPr>
          <p:cNvPr id="65" name="Text 59"/>
          <p:cNvSpPr/>
          <p:nvPr/>
        </p:nvSpPr>
        <p:spPr>
          <a:xfrm>
            <a:off x="3515797" y="7240786"/>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First Host ID</a:t>
            </a:r>
            <a:endParaRPr lang="en-US" sz="1100" dirty="0"/>
          </a:p>
        </p:txBody>
      </p:sp>
      <p:sp>
        <p:nvSpPr>
          <p:cNvPr id="66" name="Text 60"/>
          <p:cNvSpPr/>
          <p:nvPr/>
        </p:nvSpPr>
        <p:spPr>
          <a:xfrm>
            <a:off x="3515797" y="7451884"/>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Represents the IP address after the Network ID</a:t>
            </a:r>
            <a:endParaRPr lang="en-US" sz="850" dirty="0"/>
          </a:p>
        </p:txBody>
      </p:sp>
      <p:sp>
        <p:nvSpPr>
          <p:cNvPr id="67" name="Shape 61"/>
          <p:cNvSpPr/>
          <p:nvPr/>
        </p:nvSpPr>
        <p:spPr>
          <a:xfrm>
            <a:off x="3402449" y="7761565"/>
            <a:ext cx="56674" cy="56674"/>
          </a:xfrm>
          <a:prstGeom prst="roundRect">
            <a:avLst>
              <a:gd name="adj" fmla="val 806719"/>
            </a:avLst>
          </a:prstGeom>
          <a:solidFill>
            <a:srgbClr val="437066"/>
          </a:solidFill>
          <a:ln/>
        </p:spPr>
      </p:sp>
      <p:sp>
        <p:nvSpPr>
          <p:cNvPr id="68" name="Text 62"/>
          <p:cNvSpPr/>
          <p:nvPr/>
        </p:nvSpPr>
        <p:spPr>
          <a:xfrm>
            <a:off x="3515797" y="7701320"/>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Last Host ID</a:t>
            </a:r>
            <a:endParaRPr lang="en-US" sz="1100" dirty="0"/>
          </a:p>
        </p:txBody>
      </p:sp>
      <p:sp>
        <p:nvSpPr>
          <p:cNvPr id="69" name="Text 63"/>
          <p:cNvSpPr/>
          <p:nvPr/>
        </p:nvSpPr>
        <p:spPr>
          <a:xfrm>
            <a:off x="3515797" y="7912418"/>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Representing the IP address before broadcast ID</a:t>
            </a:r>
            <a:endParaRPr lang="en-US" sz="850" dirty="0"/>
          </a:p>
        </p:txBody>
      </p:sp>
      <p:sp>
        <p:nvSpPr>
          <p:cNvPr id="70" name="Shape 64"/>
          <p:cNvSpPr/>
          <p:nvPr/>
        </p:nvSpPr>
        <p:spPr>
          <a:xfrm>
            <a:off x="3402449" y="8222099"/>
            <a:ext cx="56674" cy="56674"/>
          </a:xfrm>
          <a:prstGeom prst="roundRect">
            <a:avLst>
              <a:gd name="adj" fmla="val 806719"/>
            </a:avLst>
          </a:prstGeom>
          <a:solidFill>
            <a:srgbClr val="437066"/>
          </a:solidFill>
          <a:ln/>
        </p:spPr>
      </p:sp>
      <p:sp>
        <p:nvSpPr>
          <p:cNvPr id="71" name="Text 65"/>
          <p:cNvSpPr/>
          <p:nvPr/>
        </p:nvSpPr>
        <p:spPr>
          <a:xfrm>
            <a:off x="3515797" y="8161853"/>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Next Network</a:t>
            </a:r>
            <a:endParaRPr lang="en-US" sz="1100" dirty="0"/>
          </a:p>
        </p:txBody>
      </p:sp>
      <p:sp>
        <p:nvSpPr>
          <p:cNvPr id="72" name="Text 66"/>
          <p:cNvSpPr/>
          <p:nvPr/>
        </p:nvSpPr>
        <p:spPr>
          <a:xfrm>
            <a:off x="3515797" y="8372951"/>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define the network ID of the next sub-network</a:t>
            </a:r>
            <a:endParaRPr lang="en-US" sz="850" dirty="0"/>
          </a:p>
        </p:txBody>
      </p:sp>
      <p:sp>
        <p:nvSpPr>
          <p:cNvPr id="73" name="Shape 67"/>
          <p:cNvSpPr/>
          <p:nvPr/>
        </p:nvSpPr>
        <p:spPr>
          <a:xfrm>
            <a:off x="3402449" y="8682633"/>
            <a:ext cx="56674" cy="56674"/>
          </a:xfrm>
          <a:prstGeom prst="roundRect">
            <a:avLst>
              <a:gd name="adj" fmla="val 806719"/>
            </a:avLst>
          </a:prstGeom>
          <a:solidFill>
            <a:srgbClr val="437066"/>
          </a:solidFill>
          <a:ln/>
        </p:spPr>
      </p:sp>
      <p:sp>
        <p:nvSpPr>
          <p:cNvPr id="74" name="Text 68"/>
          <p:cNvSpPr/>
          <p:nvPr/>
        </p:nvSpPr>
        <p:spPr>
          <a:xfrm>
            <a:off x="3515797" y="8622387"/>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#IP Address</a:t>
            </a:r>
            <a:endParaRPr lang="en-US" sz="1100" dirty="0"/>
          </a:p>
        </p:txBody>
      </p:sp>
      <p:sp>
        <p:nvSpPr>
          <p:cNvPr id="75" name="Text 69"/>
          <p:cNvSpPr/>
          <p:nvPr/>
        </p:nvSpPr>
        <p:spPr>
          <a:xfrm>
            <a:off x="3515797" y="8833485"/>
            <a:ext cx="7712154"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The total no. of IP addresses in the sub-network</a:t>
            </a:r>
            <a:endParaRPr lang="en-US" sz="850" dirty="0"/>
          </a:p>
        </p:txBody>
      </p:sp>
      <p:sp>
        <p:nvSpPr>
          <p:cNvPr id="76" name="Text 70"/>
          <p:cNvSpPr/>
          <p:nvPr/>
        </p:nvSpPr>
        <p:spPr>
          <a:xfrm>
            <a:off x="3402449" y="9054584"/>
            <a:ext cx="1744623"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Example: 192.168.0.0/25</a:t>
            </a:r>
            <a:endParaRPr lang="en-US" sz="1300" dirty="0"/>
          </a:p>
        </p:txBody>
      </p:sp>
      <p:sp>
        <p:nvSpPr>
          <p:cNvPr id="77" name="Text 71"/>
          <p:cNvSpPr/>
          <p:nvPr/>
        </p:nvSpPr>
        <p:spPr>
          <a:xfrm>
            <a:off x="3402449" y="940891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Subnetting</a:t>
            </a:r>
            <a:endParaRPr lang="en-US" sz="1100" dirty="0"/>
          </a:p>
        </p:txBody>
      </p:sp>
      <p:sp>
        <p:nvSpPr>
          <p:cNvPr id="78" name="Text 72"/>
          <p:cNvSpPr/>
          <p:nvPr/>
        </p:nvSpPr>
        <p:spPr>
          <a:xfrm>
            <a:off x="3402449" y="9642753"/>
            <a:ext cx="3774400" cy="915353"/>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Subnet: 255.255.255.128</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Net ID: 192.168.0.0</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Broadcast ID: 192.168.0.127</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First Host IP: 192.168.0.1</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Last Host IP: 192.168.0.127</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Next IP address: 192.168.0.128</a:t>
            </a:r>
            <a:endParaRPr lang="en-US" sz="850" dirty="0"/>
          </a:p>
        </p:txBody>
      </p:sp>
      <p:sp>
        <p:nvSpPr>
          <p:cNvPr id="79" name="Text 73"/>
          <p:cNvSpPr/>
          <p:nvPr/>
        </p:nvSpPr>
        <p:spPr>
          <a:xfrm>
            <a:off x="7461171" y="940891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CIDR Notation</a:t>
            </a:r>
            <a:endParaRPr lang="en-US" sz="1100" dirty="0"/>
          </a:p>
        </p:txBody>
      </p:sp>
      <p:sp>
        <p:nvSpPr>
          <p:cNvPr id="80" name="Text 74"/>
          <p:cNvSpPr/>
          <p:nvPr/>
        </p:nvSpPr>
        <p:spPr>
          <a:xfrm>
            <a:off x="7461171" y="9642753"/>
            <a:ext cx="3774400" cy="680442"/>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CIDR (Classless Inter-Domain Routing) is the standard system used to define IP addresses and their associated network masks. Instead of using complex "dotted-decimal" subnet masks (like 255.255.255.0), CIDR uses a simple slash notation to indicate how many bits are fixed for the network portion of the address.</a:t>
            </a:r>
            <a:endParaRPr lang="en-US" sz="850" dirty="0"/>
          </a:p>
        </p:txBody>
      </p:sp>
      <p:sp>
        <p:nvSpPr>
          <p:cNvPr id="81" name="Text 75"/>
          <p:cNvSpPr/>
          <p:nvPr/>
        </p:nvSpPr>
        <p:spPr>
          <a:xfrm>
            <a:off x="3402449" y="10662880"/>
            <a:ext cx="439864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How to Find Host Range, Network Bit, Host Bit, Subnet Mask</a:t>
            </a:r>
            <a:endParaRPr lang="en-US" sz="1300" dirty="0"/>
          </a:p>
        </p:txBody>
      </p:sp>
      <p:sp>
        <p:nvSpPr>
          <p:cNvPr id="82" name="Text 76"/>
          <p:cNvSpPr/>
          <p:nvPr/>
        </p:nvSpPr>
        <p:spPr>
          <a:xfrm>
            <a:off x="3402449" y="10960537"/>
            <a:ext cx="7825502"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Example:</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192.168.50.0/26</a:t>
            </a:r>
            <a:endParaRPr lang="en-US" sz="850" dirty="0"/>
          </a:p>
        </p:txBody>
      </p:sp>
      <p:sp>
        <p:nvSpPr>
          <p:cNvPr id="83" name="Text 77"/>
          <p:cNvSpPr/>
          <p:nvPr/>
        </p:nvSpPr>
        <p:spPr>
          <a:xfrm>
            <a:off x="3402449" y="11160323"/>
            <a:ext cx="7825502" cy="291941"/>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Network bit = 26</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Host bit = 6</a:t>
            </a:r>
            <a:endParaRPr lang="en-US" sz="850" dirty="0"/>
          </a:p>
        </p:txBody>
      </p:sp>
      <p:sp>
        <p:nvSpPr>
          <p:cNvPr id="84" name="Shape 78"/>
          <p:cNvSpPr/>
          <p:nvPr/>
        </p:nvSpPr>
        <p:spPr>
          <a:xfrm>
            <a:off x="3402449" y="11515963"/>
            <a:ext cx="7825502" cy="578287"/>
          </a:xfrm>
          <a:prstGeom prst="roundRect">
            <a:avLst>
              <a:gd name="adj" fmla="val 8237"/>
            </a:avLst>
          </a:prstGeom>
          <a:solidFill>
            <a:srgbClr val="F2F2F2"/>
          </a:solidFill>
          <a:ln/>
        </p:spPr>
      </p:sp>
      <p:sp>
        <p:nvSpPr>
          <p:cNvPr id="85" name="Shape 79"/>
          <p:cNvSpPr/>
          <p:nvPr/>
        </p:nvSpPr>
        <p:spPr>
          <a:xfrm>
            <a:off x="3396853" y="11515963"/>
            <a:ext cx="7836694" cy="578287"/>
          </a:xfrm>
          <a:prstGeom prst="roundRect">
            <a:avLst>
              <a:gd name="adj" fmla="val 2942"/>
            </a:avLst>
          </a:prstGeom>
          <a:solidFill>
            <a:srgbClr val="F2F2F2"/>
          </a:solidFill>
          <a:ln/>
        </p:spPr>
      </p:sp>
      <p:sp>
        <p:nvSpPr>
          <p:cNvPr id="86" name="Text 80"/>
          <p:cNvSpPr/>
          <p:nvPr/>
        </p:nvSpPr>
        <p:spPr>
          <a:xfrm>
            <a:off x="3510201" y="11600974"/>
            <a:ext cx="7609999" cy="408265"/>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highlight>
                  <a:srgbClr val="F2F2F2"/>
                </a:highlight>
                <a:latin typeface="Consolas" pitchFamily="34" charset="0"/>
                <a:ea typeface="Consolas" pitchFamily="34" charset="-122"/>
                <a:cs typeface="Consolas" pitchFamily="34" charset="-120"/>
              </a:rPr>
              <a:t>1 1 1 1 1 1 1 1 1 1 1 1 1 1 1 1 1 1 1 1 1 1 1 1 1 1 0 0 0 0 0 0
128 64 32 24 16 8 4 2 1
</a:t>
            </a:r>
            <a:endParaRPr lang="en-US" sz="850" dirty="0"/>
          </a:p>
        </p:txBody>
      </p:sp>
      <p:sp>
        <p:nvSpPr>
          <p:cNvPr id="87" name="Text 81"/>
          <p:cNvSpPr/>
          <p:nvPr/>
        </p:nvSpPr>
        <p:spPr>
          <a:xfrm>
            <a:off x="3402449" y="12157948"/>
            <a:ext cx="7825502" cy="759500"/>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Network mask = 255.255.255.192 (128+64)</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Host range 2 * 2 * 2 * 2 * 2 * 2 = 64 - 2 = 62</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Network ID = 192.168.50.0</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 Usable host to 192.168.50.62</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Broadcast ID = 192.168.50.63</a:t>
            </a:r>
            <a:endParaRPr lang="en-US" sz="850" dirty="0"/>
          </a:p>
        </p:txBody>
      </p:sp>
      <p:sp>
        <p:nvSpPr>
          <p:cNvPr id="88" name="Text 82"/>
          <p:cNvSpPr/>
          <p:nvPr/>
        </p:nvSpPr>
        <p:spPr>
          <a:xfrm>
            <a:off x="3402449" y="13002458"/>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Department Example</a:t>
            </a:r>
            <a:endParaRPr lang="en-US" sz="1300" dirty="0"/>
          </a:p>
        </p:txBody>
      </p:sp>
      <p:sp>
        <p:nvSpPr>
          <p:cNvPr id="89" name="Text 83"/>
          <p:cNvSpPr/>
          <p:nvPr/>
        </p:nvSpPr>
        <p:spPr>
          <a:xfrm>
            <a:off x="3402449" y="13300115"/>
            <a:ext cx="7825502"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HR = 60, IT = 28, Med = 35</a:t>
            </a:r>
            <a:endParaRPr lang="en-US" sz="850" dirty="0"/>
          </a:p>
        </p:txBody>
      </p:sp>
      <p:sp>
        <p:nvSpPr>
          <p:cNvPr id="90" name="Shape 84"/>
          <p:cNvSpPr/>
          <p:nvPr/>
        </p:nvSpPr>
        <p:spPr>
          <a:xfrm>
            <a:off x="3402449" y="13499902"/>
            <a:ext cx="2570678" cy="1071920"/>
          </a:xfrm>
          <a:prstGeom prst="roundRect">
            <a:avLst>
              <a:gd name="adj" fmla="val 6824"/>
            </a:avLst>
          </a:prstGeom>
          <a:solidFill>
            <a:srgbClr val="FFFFFF"/>
          </a:solidFill>
          <a:ln w="15240">
            <a:solidFill>
              <a:srgbClr val="C5D2CF"/>
            </a:solidFill>
            <a:prstDash val="solid"/>
          </a:ln>
        </p:spPr>
      </p:sp>
      <p:sp>
        <p:nvSpPr>
          <p:cNvPr id="91" name="Shape 85"/>
          <p:cNvSpPr/>
          <p:nvPr/>
        </p:nvSpPr>
        <p:spPr>
          <a:xfrm>
            <a:off x="3387209" y="13499902"/>
            <a:ext cx="60960" cy="1071920"/>
          </a:xfrm>
          <a:prstGeom prst="roundRect">
            <a:avLst>
              <a:gd name="adj" fmla="val 78139"/>
            </a:avLst>
          </a:prstGeom>
          <a:solidFill>
            <a:srgbClr val="437066"/>
          </a:solidFill>
          <a:ln/>
        </p:spPr>
      </p:sp>
      <p:sp>
        <p:nvSpPr>
          <p:cNvPr id="92" name="Text 86"/>
          <p:cNvSpPr/>
          <p:nvPr/>
        </p:nvSpPr>
        <p:spPr>
          <a:xfrm>
            <a:off x="3576757" y="1362848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HR Department = 60+2</a:t>
            </a:r>
            <a:endParaRPr lang="en-US" sz="1100" dirty="0"/>
          </a:p>
        </p:txBody>
      </p:sp>
      <p:sp>
        <p:nvSpPr>
          <p:cNvPr id="93" name="Text 87"/>
          <p:cNvSpPr/>
          <p:nvPr/>
        </p:nvSpPr>
        <p:spPr>
          <a:xfrm>
            <a:off x="3576757" y="13839587"/>
            <a:ext cx="2267783" cy="603647"/>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192.168.50.0</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 Usable IP</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192.168.50.62</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192.168.50.63</a:t>
            </a:r>
            <a:endParaRPr lang="en-US" sz="850" dirty="0"/>
          </a:p>
        </p:txBody>
      </p:sp>
      <p:sp>
        <p:nvSpPr>
          <p:cNvPr id="94" name="Shape 88"/>
          <p:cNvSpPr/>
          <p:nvPr/>
        </p:nvSpPr>
        <p:spPr>
          <a:xfrm>
            <a:off x="6029801" y="13499902"/>
            <a:ext cx="2570678" cy="1071920"/>
          </a:xfrm>
          <a:prstGeom prst="roundRect">
            <a:avLst>
              <a:gd name="adj" fmla="val 6824"/>
            </a:avLst>
          </a:prstGeom>
          <a:solidFill>
            <a:srgbClr val="FFFFFF"/>
          </a:solidFill>
          <a:ln w="15240">
            <a:solidFill>
              <a:srgbClr val="C5D2CF"/>
            </a:solidFill>
            <a:prstDash val="solid"/>
          </a:ln>
        </p:spPr>
      </p:sp>
      <p:sp>
        <p:nvSpPr>
          <p:cNvPr id="95" name="Shape 89"/>
          <p:cNvSpPr/>
          <p:nvPr/>
        </p:nvSpPr>
        <p:spPr>
          <a:xfrm>
            <a:off x="6014561" y="13499902"/>
            <a:ext cx="60960" cy="1071920"/>
          </a:xfrm>
          <a:prstGeom prst="roundRect">
            <a:avLst>
              <a:gd name="adj" fmla="val 78139"/>
            </a:avLst>
          </a:prstGeom>
          <a:solidFill>
            <a:srgbClr val="437066"/>
          </a:solidFill>
          <a:ln/>
        </p:spPr>
      </p:sp>
      <p:sp>
        <p:nvSpPr>
          <p:cNvPr id="96" name="Text 90"/>
          <p:cNvSpPr/>
          <p:nvPr/>
        </p:nvSpPr>
        <p:spPr>
          <a:xfrm>
            <a:off x="6204109" y="13628489"/>
            <a:ext cx="1541621"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Medical Department = 35</a:t>
            </a:r>
            <a:endParaRPr lang="en-US" sz="1100" dirty="0"/>
          </a:p>
        </p:txBody>
      </p:sp>
      <p:sp>
        <p:nvSpPr>
          <p:cNvPr id="97" name="Text 91"/>
          <p:cNvSpPr/>
          <p:nvPr/>
        </p:nvSpPr>
        <p:spPr>
          <a:xfrm>
            <a:off x="6204109" y="13839587"/>
            <a:ext cx="2267783" cy="603647"/>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192.168.50.64</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192.168.50.65 Usable IP</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192.168.50.126</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192.168.50.127</a:t>
            </a:r>
            <a:endParaRPr lang="en-US" sz="850" dirty="0"/>
          </a:p>
        </p:txBody>
      </p:sp>
      <p:sp>
        <p:nvSpPr>
          <p:cNvPr id="98" name="Shape 92"/>
          <p:cNvSpPr/>
          <p:nvPr/>
        </p:nvSpPr>
        <p:spPr>
          <a:xfrm>
            <a:off x="8657153" y="13499902"/>
            <a:ext cx="2570797" cy="1071920"/>
          </a:xfrm>
          <a:prstGeom prst="roundRect">
            <a:avLst>
              <a:gd name="adj" fmla="val 6824"/>
            </a:avLst>
          </a:prstGeom>
          <a:solidFill>
            <a:srgbClr val="FFFFFF"/>
          </a:solidFill>
          <a:ln w="15240">
            <a:solidFill>
              <a:srgbClr val="C5D2CF"/>
            </a:solidFill>
            <a:prstDash val="solid"/>
          </a:ln>
        </p:spPr>
      </p:sp>
      <p:sp>
        <p:nvSpPr>
          <p:cNvPr id="99" name="Shape 93"/>
          <p:cNvSpPr/>
          <p:nvPr/>
        </p:nvSpPr>
        <p:spPr>
          <a:xfrm>
            <a:off x="8641913" y="13499902"/>
            <a:ext cx="60960" cy="1071920"/>
          </a:xfrm>
          <a:prstGeom prst="roundRect">
            <a:avLst>
              <a:gd name="adj" fmla="val 78139"/>
            </a:avLst>
          </a:prstGeom>
          <a:solidFill>
            <a:srgbClr val="437066"/>
          </a:solidFill>
          <a:ln/>
        </p:spPr>
      </p:sp>
      <p:sp>
        <p:nvSpPr>
          <p:cNvPr id="100" name="Text 94"/>
          <p:cNvSpPr/>
          <p:nvPr/>
        </p:nvSpPr>
        <p:spPr>
          <a:xfrm>
            <a:off x="8831461" y="1362848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IT Department</a:t>
            </a:r>
            <a:endParaRPr lang="en-US" sz="1100" dirty="0"/>
          </a:p>
        </p:txBody>
      </p:sp>
      <p:sp>
        <p:nvSpPr>
          <p:cNvPr id="101" name="Text 95"/>
          <p:cNvSpPr/>
          <p:nvPr/>
        </p:nvSpPr>
        <p:spPr>
          <a:xfrm>
            <a:off x="8831461" y="13839587"/>
            <a:ext cx="2267903" cy="603647"/>
          </a:xfrm>
          <a:prstGeom prst="rect">
            <a:avLst/>
          </a:prstGeom>
          <a:noFill/>
          <a:ln/>
        </p:spPr>
        <p:txBody>
          <a:bodyPr wrap="square" lIns="0" tIns="0" rIns="0" bIns="0" rtlCol="0" anchor="t"/>
          <a:lstStyle/>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192.168.50.128</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192.168.50.129</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192.168.50.158</a:t>
            </a:r>
            <a:endParaRPr lang="en-US" sz="850" dirty="0"/>
          </a:p>
          <a:p>
            <a:pPr algn="l" marL="342900" indent="-342900">
              <a:lnSpc>
                <a:spcPts val="1050"/>
              </a:lnSpc>
              <a:buSzPct val="100000"/>
              <a:buChar char="•"/>
            </a:pPr>
            <a:r>
              <a:rPr lang="en-US" sz="850" dirty="0">
                <a:solidFill>
                  <a:srgbClr val="2C3249"/>
                </a:solidFill>
                <a:latin typeface="Martel Sans" pitchFamily="34" charset="0"/>
                <a:ea typeface="Martel Sans" pitchFamily="34" charset="-122"/>
                <a:cs typeface="Martel Sans" pitchFamily="34" charset="-120"/>
              </a:rPr>
              <a:t>192.168.50.159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402449" y="31182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SSL and TLS</a:t>
            </a:r>
            <a:endParaRPr lang="en-US" sz="2200" dirty="0"/>
          </a:p>
        </p:txBody>
      </p:sp>
      <p:sp>
        <p:nvSpPr>
          <p:cNvPr id="3" name="Text 1"/>
          <p:cNvSpPr/>
          <p:nvPr/>
        </p:nvSpPr>
        <p:spPr>
          <a:xfrm>
            <a:off x="3402449" y="807839"/>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SSL</a:t>
            </a:r>
            <a:endParaRPr lang="en-US" sz="1300" dirty="0"/>
          </a:p>
        </p:txBody>
      </p:sp>
      <p:sp>
        <p:nvSpPr>
          <p:cNvPr id="4" name="Text 2"/>
          <p:cNvSpPr/>
          <p:nvPr/>
        </p:nvSpPr>
        <p:spPr>
          <a:xfrm>
            <a:off x="3402449" y="1077158"/>
            <a:ext cx="3774400" cy="408265"/>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SSL stands for Secure Socket Layer. It is a communication protocol or set of rules that create a secure connection between two devices or applications on a network. SSL is the process security flaws.</a:t>
            </a:r>
            <a:endParaRPr lang="en-US" sz="850" dirty="0"/>
          </a:p>
        </p:txBody>
      </p:sp>
      <p:sp>
        <p:nvSpPr>
          <p:cNvPr id="5" name="Text 3"/>
          <p:cNvSpPr/>
          <p:nvPr/>
        </p:nvSpPr>
        <p:spPr>
          <a:xfrm>
            <a:off x="7461171" y="807839"/>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TLS</a:t>
            </a:r>
            <a:endParaRPr lang="en-US" sz="1300" dirty="0"/>
          </a:p>
        </p:txBody>
      </p:sp>
      <p:sp>
        <p:nvSpPr>
          <p:cNvPr id="6" name="Text 4"/>
          <p:cNvSpPr/>
          <p:nvPr/>
        </p:nvSpPr>
        <p:spPr>
          <a:xfrm>
            <a:off x="7461171" y="1077158"/>
            <a:ext cx="3774400"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TLS stands for Transport Layer Security. It is an upgraded version that fixes existing SSL vulnerabilities. TLS authentication is more efficient and continues to support encrypted communication channels.</a:t>
            </a:r>
            <a:endParaRPr lang="en-US" sz="850" dirty="0"/>
          </a:p>
        </p:txBody>
      </p:sp>
      <p:sp>
        <p:nvSpPr>
          <p:cNvPr id="7" name="Text 5"/>
          <p:cNvSpPr/>
          <p:nvPr/>
        </p:nvSpPr>
        <p:spPr>
          <a:xfrm>
            <a:off x="3402449" y="1757482"/>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TLS Handshaking</a:t>
            </a:r>
            <a:endParaRPr lang="en-US" sz="1300" dirty="0"/>
          </a:p>
        </p:txBody>
      </p:sp>
      <p:pic>
        <p:nvPicPr>
          <p:cNvPr id="8" name="Image 0" descr="preencoded.png">    </p:cNvPr>
          <p:cNvPicPr>
            <a:picLocks noChangeAspect="1"/>
          </p:cNvPicPr>
          <p:nvPr/>
        </p:nvPicPr>
        <p:blipFill>
          <a:blip r:embed="rId1"/>
          <a:stretch>
            <a:fillRect/>
          </a:stretch>
        </p:blipFill>
        <p:spPr>
          <a:xfrm>
            <a:off x="3402449" y="2055138"/>
            <a:ext cx="340162" cy="1143000"/>
          </a:xfrm>
          <a:prstGeom prst="rect">
            <a:avLst/>
          </a:prstGeom>
        </p:spPr>
      </p:pic>
      <p:sp>
        <p:nvSpPr>
          <p:cNvPr id="9" name="Text 6"/>
          <p:cNvSpPr/>
          <p:nvPr/>
        </p:nvSpPr>
        <p:spPr>
          <a:xfrm>
            <a:off x="3799284" y="2168485"/>
            <a:ext cx="2698194"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Client and Server Working TLS Handshaking</a:t>
            </a:r>
            <a:endParaRPr lang="en-US" sz="1100" dirty="0"/>
          </a:p>
        </p:txBody>
      </p:sp>
      <p:sp>
        <p:nvSpPr>
          <p:cNvPr id="10" name="Text 7"/>
          <p:cNvSpPr/>
          <p:nvPr/>
        </p:nvSpPr>
        <p:spPr>
          <a:xfrm>
            <a:off x="3799284" y="2379583"/>
            <a:ext cx="7428667"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Client sends hello. That list of information such as the SSL and TLS version, cryptographic algorithm, data compression method supported by the client.</a:t>
            </a:r>
            <a:endParaRPr lang="en-US" sz="850" dirty="0"/>
          </a:p>
        </p:txBody>
      </p:sp>
      <p:pic>
        <p:nvPicPr>
          <p:cNvPr id="11" name="Image 1" descr="preencoded.png">    </p:cNvPr>
          <p:cNvPicPr>
            <a:picLocks noChangeAspect="1"/>
          </p:cNvPicPr>
          <p:nvPr/>
        </p:nvPicPr>
        <p:blipFill>
          <a:blip r:embed="rId2"/>
          <a:stretch>
            <a:fillRect/>
          </a:stretch>
        </p:blipFill>
        <p:spPr>
          <a:xfrm>
            <a:off x="3572470" y="2821781"/>
            <a:ext cx="340162" cy="1143000"/>
          </a:xfrm>
          <a:prstGeom prst="rect">
            <a:avLst/>
          </a:prstGeom>
        </p:spPr>
      </p:pic>
      <p:sp>
        <p:nvSpPr>
          <p:cNvPr id="12" name="Text 8"/>
          <p:cNvSpPr/>
          <p:nvPr/>
        </p:nvSpPr>
        <p:spPr>
          <a:xfrm>
            <a:off x="3969306" y="2935129"/>
            <a:ext cx="1767245"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Server Response Reply Hello</a:t>
            </a:r>
            <a:endParaRPr lang="en-US" sz="1100" dirty="0"/>
          </a:p>
        </p:txBody>
      </p:sp>
      <p:sp>
        <p:nvSpPr>
          <p:cNvPr id="13" name="Text 9"/>
          <p:cNvSpPr/>
          <p:nvPr/>
        </p:nvSpPr>
        <p:spPr>
          <a:xfrm>
            <a:off x="3969306" y="3146227"/>
            <a:ext cx="725864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That contains cryptographic algorithm chosen, session ID, sends its digital certificate and publicly.</a:t>
            </a:r>
            <a:endParaRPr lang="en-US" sz="850" dirty="0"/>
          </a:p>
        </p:txBody>
      </p:sp>
      <p:pic>
        <p:nvPicPr>
          <p:cNvPr id="14" name="Image 2" descr="preencoded.png">    </p:cNvPr>
          <p:cNvPicPr>
            <a:picLocks noChangeAspect="1"/>
          </p:cNvPicPr>
          <p:nvPr/>
        </p:nvPicPr>
        <p:blipFill>
          <a:blip r:embed="rId3"/>
          <a:stretch>
            <a:fillRect/>
          </a:stretch>
        </p:blipFill>
        <p:spPr>
          <a:xfrm>
            <a:off x="3742611" y="3558897"/>
            <a:ext cx="340162" cy="1143000"/>
          </a:xfrm>
          <a:prstGeom prst="rect">
            <a:avLst/>
          </a:prstGeom>
        </p:spPr>
      </p:pic>
      <p:sp>
        <p:nvSpPr>
          <p:cNvPr id="15" name="Text 10"/>
          <p:cNvSpPr/>
          <p:nvPr/>
        </p:nvSpPr>
        <p:spPr>
          <a:xfrm>
            <a:off x="4139446" y="3672245"/>
            <a:ext cx="2013942"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Client Will Contact the Server CA</a:t>
            </a:r>
            <a:endParaRPr lang="en-US" sz="1100" dirty="0"/>
          </a:p>
        </p:txBody>
      </p:sp>
      <p:sp>
        <p:nvSpPr>
          <p:cNvPr id="16" name="Text 11"/>
          <p:cNvSpPr/>
          <p:nvPr/>
        </p:nvSpPr>
        <p:spPr>
          <a:xfrm>
            <a:off x="4139446" y="3883343"/>
            <a:ext cx="708850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And verify the server digital certificate and authentication.</a:t>
            </a:r>
            <a:endParaRPr lang="en-US" sz="850" dirty="0"/>
          </a:p>
        </p:txBody>
      </p:sp>
      <p:pic>
        <p:nvPicPr>
          <p:cNvPr id="17" name="Image 3" descr="preencoded.png">    </p:cNvPr>
          <p:cNvPicPr>
            <a:picLocks noChangeAspect="1"/>
          </p:cNvPicPr>
          <p:nvPr/>
        </p:nvPicPr>
        <p:blipFill>
          <a:blip r:embed="rId4"/>
          <a:stretch>
            <a:fillRect/>
          </a:stretch>
        </p:blipFill>
        <p:spPr>
          <a:xfrm>
            <a:off x="3912751" y="4296013"/>
            <a:ext cx="340162" cy="1143000"/>
          </a:xfrm>
          <a:prstGeom prst="rect">
            <a:avLst/>
          </a:prstGeom>
        </p:spPr>
      </p:pic>
      <p:sp>
        <p:nvSpPr>
          <p:cNvPr id="18" name="Text 12"/>
          <p:cNvSpPr/>
          <p:nvPr/>
        </p:nvSpPr>
        <p:spPr>
          <a:xfrm>
            <a:off x="4309586" y="4409361"/>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Client Key Exchange</a:t>
            </a:r>
            <a:endParaRPr lang="en-US" sz="1100" dirty="0"/>
          </a:p>
        </p:txBody>
      </p:sp>
      <p:sp>
        <p:nvSpPr>
          <p:cNvPr id="19" name="Text 13"/>
          <p:cNvSpPr/>
          <p:nvPr/>
        </p:nvSpPr>
        <p:spPr>
          <a:xfrm>
            <a:off x="4309586" y="4620458"/>
            <a:ext cx="6918365"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The client sends a shared secret key to be used in the following conversation. The secret key is encrypted with the server public key.</a:t>
            </a:r>
            <a:endParaRPr lang="en-US" sz="850" dirty="0"/>
          </a:p>
        </p:txBody>
      </p:sp>
      <p:pic>
        <p:nvPicPr>
          <p:cNvPr id="20" name="Image 4" descr="preencoded.png">    </p:cNvPr>
          <p:cNvPicPr>
            <a:picLocks noChangeAspect="1"/>
          </p:cNvPicPr>
          <p:nvPr/>
        </p:nvPicPr>
        <p:blipFill>
          <a:blip r:embed="rId5"/>
          <a:stretch>
            <a:fillRect/>
          </a:stretch>
        </p:blipFill>
        <p:spPr>
          <a:xfrm>
            <a:off x="3742611" y="5062657"/>
            <a:ext cx="340162" cy="1143000"/>
          </a:xfrm>
          <a:prstGeom prst="rect">
            <a:avLst/>
          </a:prstGeom>
        </p:spPr>
      </p:pic>
      <p:sp>
        <p:nvSpPr>
          <p:cNvPr id="21" name="Text 14"/>
          <p:cNvSpPr/>
          <p:nvPr/>
        </p:nvSpPr>
        <p:spPr>
          <a:xfrm>
            <a:off x="4139446" y="5176004"/>
            <a:ext cx="2004060"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Client Sends a Finished Message</a:t>
            </a:r>
            <a:endParaRPr lang="en-US" sz="1100" dirty="0"/>
          </a:p>
        </p:txBody>
      </p:sp>
      <p:sp>
        <p:nvSpPr>
          <p:cNvPr id="22" name="Text 15"/>
          <p:cNvSpPr/>
          <p:nvPr/>
        </p:nvSpPr>
        <p:spPr>
          <a:xfrm>
            <a:off x="4139446" y="5387102"/>
            <a:ext cx="708850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Is encrypted to shared secret key handshake complete.</a:t>
            </a:r>
            <a:endParaRPr lang="en-US" sz="850" dirty="0"/>
          </a:p>
        </p:txBody>
      </p:sp>
      <p:pic>
        <p:nvPicPr>
          <p:cNvPr id="23" name="Image 5" descr="preencoded.png">    </p:cNvPr>
          <p:cNvPicPr>
            <a:picLocks noChangeAspect="1"/>
          </p:cNvPicPr>
          <p:nvPr/>
        </p:nvPicPr>
        <p:blipFill>
          <a:blip r:embed="rId6"/>
          <a:stretch>
            <a:fillRect/>
          </a:stretch>
        </p:blipFill>
        <p:spPr>
          <a:xfrm>
            <a:off x="3572470" y="5799773"/>
            <a:ext cx="340162" cy="1143000"/>
          </a:xfrm>
          <a:prstGeom prst="rect">
            <a:avLst/>
          </a:prstGeom>
        </p:spPr>
      </p:pic>
      <p:sp>
        <p:nvSpPr>
          <p:cNvPr id="24" name="Text 16"/>
          <p:cNvSpPr/>
          <p:nvPr/>
        </p:nvSpPr>
        <p:spPr>
          <a:xfrm>
            <a:off x="3969306" y="5913120"/>
            <a:ext cx="3066812"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Server Response the Encrypted Stored Secret Key</a:t>
            </a:r>
            <a:endParaRPr lang="en-US" sz="1100" dirty="0"/>
          </a:p>
        </p:txBody>
      </p:sp>
      <p:sp>
        <p:nvSpPr>
          <p:cNvPr id="25" name="Text 17"/>
          <p:cNvSpPr/>
          <p:nvPr/>
        </p:nvSpPr>
        <p:spPr>
          <a:xfrm>
            <a:off x="3969306" y="6124218"/>
            <a:ext cx="7258645"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Handshake complete.</a:t>
            </a:r>
            <a:endParaRPr lang="en-US" sz="850" dirty="0"/>
          </a:p>
        </p:txBody>
      </p:sp>
      <p:sp>
        <p:nvSpPr>
          <p:cNvPr id="26" name="Text 18"/>
          <p:cNvSpPr/>
          <p:nvPr/>
        </p:nvSpPr>
        <p:spPr>
          <a:xfrm>
            <a:off x="3402449" y="6543913"/>
            <a:ext cx="7825502"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The server and client can now exchange messages that are symmetrically encrypted with shared secret key.</a:t>
            </a:r>
            <a:endParaRPr lang="en-US" sz="850" dirty="0"/>
          </a:p>
        </p:txBody>
      </p:sp>
      <p:sp>
        <p:nvSpPr>
          <p:cNvPr id="27" name="Text 19"/>
          <p:cNvSpPr/>
          <p:nvPr/>
        </p:nvSpPr>
        <p:spPr>
          <a:xfrm>
            <a:off x="3402449" y="6765012"/>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IP Sec</a:t>
            </a:r>
            <a:endParaRPr lang="en-US" sz="1300" dirty="0"/>
          </a:p>
        </p:txBody>
      </p:sp>
      <p:sp>
        <p:nvSpPr>
          <p:cNvPr id="28" name="Text 20"/>
          <p:cNvSpPr/>
          <p:nvPr/>
        </p:nvSpPr>
        <p:spPr>
          <a:xfrm>
            <a:off x="3402449" y="7062668"/>
            <a:ext cx="7825502"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IP sec is a set of protocols used to security at the network layer of the OSI model.</a:t>
            </a:r>
            <a:endParaRPr lang="en-US" sz="850" dirty="0"/>
          </a:p>
        </p:txBody>
      </p:sp>
      <p:sp>
        <p:nvSpPr>
          <p:cNvPr id="29" name="Text 21"/>
          <p:cNvSpPr/>
          <p:nvPr/>
        </p:nvSpPr>
        <p:spPr>
          <a:xfrm>
            <a:off x="3402449" y="7283768"/>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Two Types of Protocol</a:t>
            </a:r>
            <a:endParaRPr lang="en-US" sz="1100" dirty="0"/>
          </a:p>
        </p:txBody>
      </p:sp>
      <p:sp>
        <p:nvSpPr>
          <p:cNvPr id="30" name="Shape 22"/>
          <p:cNvSpPr/>
          <p:nvPr/>
        </p:nvSpPr>
        <p:spPr>
          <a:xfrm>
            <a:off x="3402449" y="7545943"/>
            <a:ext cx="3884414" cy="604361"/>
          </a:xfrm>
          <a:prstGeom prst="roundRect">
            <a:avLst>
              <a:gd name="adj" fmla="val 7882"/>
            </a:avLst>
          </a:prstGeom>
          <a:solidFill>
            <a:srgbClr val="FFFFFF"/>
          </a:solidFill>
          <a:ln w="15240">
            <a:solidFill>
              <a:srgbClr val="C5D2CF"/>
            </a:solidFill>
            <a:prstDash val="solid"/>
          </a:ln>
        </p:spPr>
      </p:sp>
      <p:sp>
        <p:nvSpPr>
          <p:cNvPr id="31" name="Text 23"/>
          <p:cNvSpPr/>
          <p:nvPr/>
        </p:nvSpPr>
        <p:spPr>
          <a:xfrm>
            <a:off x="3531037" y="7674531"/>
            <a:ext cx="1635204"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AH Authentication Header</a:t>
            </a:r>
            <a:endParaRPr lang="en-US" sz="1100" dirty="0"/>
          </a:p>
        </p:txBody>
      </p:sp>
      <p:sp>
        <p:nvSpPr>
          <p:cNvPr id="32" name="Text 24"/>
          <p:cNvSpPr/>
          <p:nvPr/>
        </p:nvSpPr>
        <p:spPr>
          <a:xfrm>
            <a:off x="3531037" y="7885628"/>
            <a:ext cx="3627239"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IP sec protocol that offers authentication and integrity.</a:t>
            </a:r>
            <a:endParaRPr lang="en-US" sz="850" dirty="0"/>
          </a:p>
        </p:txBody>
      </p:sp>
      <p:sp>
        <p:nvSpPr>
          <p:cNvPr id="33" name="Shape 25"/>
          <p:cNvSpPr/>
          <p:nvPr/>
        </p:nvSpPr>
        <p:spPr>
          <a:xfrm>
            <a:off x="7343537" y="7545943"/>
            <a:ext cx="3884414" cy="604361"/>
          </a:xfrm>
          <a:prstGeom prst="roundRect">
            <a:avLst>
              <a:gd name="adj" fmla="val 7882"/>
            </a:avLst>
          </a:prstGeom>
          <a:solidFill>
            <a:srgbClr val="FFFFFF"/>
          </a:solidFill>
          <a:ln w="15240">
            <a:solidFill>
              <a:srgbClr val="C5D2CF"/>
            </a:solidFill>
            <a:prstDash val="solid"/>
          </a:ln>
        </p:spPr>
      </p:sp>
      <p:sp>
        <p:nvSpPr>
          <p:cNvPr id="34" name="Text 26"/>
          <p:cNvSpPr/>
          <p:nvPr/>
        </p:nvSpPr>
        <p:spPr>
          <a:xfrm>
            <a:off x="7472124" y="7674531"/>
            <a:ext cx="2239685"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ESP Encapsulating Security Payload</a:t>
            </a:r>
            <a:endParaRPr lang="en-US" sz="1100" dirty="0"/>
          </a:p>
        </p:txBody>
      </p:sp>
      <p:sp>
        <p:nvSpPr>
          <p:cNvPr id="35" name="Text 27"/>
          <p:cNvSpPr/>
          <p:nvPr/>
        </p:nvSpPr>
        <p:spPr>
          <a:xfrm>
            <a:off x="7472124" y="7885628"/>
            <a:ext cx="3627239" cy="136088"/>
          </a:xfrm>
          <a:prstGeom prst="rect">
            <a:avLst/>
          </a:prstGeom>
          <a:noFill/>
          <a:ln/>
        </p:spPr>
        <p:txBody>
          <a:bodyPr wrap="non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This protocol offers authentication, integrity, and encryption.</a:t>
            </a:r>
            <a:endParaRPr lang="en-US" sz="850" dirty="0"/>
          </a:p>
        </p:txBody>
      </p:sp>
      <p:sp>
        <p:nvSpPr>
          <p:cNvPr id="36" name="Text 28"/>
          <p:cNvSpPr/>
          <p:nvPr/>
        </p:nvSpPr>
        <p:spPr>
          <a:xfrm>
            <a:off x="3402449" y="8235315"/>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Two Types of Mode</a:t>
            </a:r>
            <a:endParaRPr lang="en-US" sz="1100" dirty="0"/>
          </a:p>
        </p:txBody>
      </p:sp>
      <p:sp>
        <p:nvSpPr>
          <p:cNvPr id="37" name="Text 29"/>
          <p:cNvSpPr/>
          <p:nvPr/>
        </p:nvSpPr>
        <p:spPr>
          <a:xfrm>
            <a:off x="3402449" y="855416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Transport Mode</a:t>
            </a:r>
            <a:endParaRPr lang="en-US" sz="1100" dirty="0"/>
          </a:p>
        </p:txBody>
      </p:sp>
      <p:sp>
        <p:nvSpPr>
          <p:cNvPr id="38" name="Text 30"/>
          <p:cNvSpPr/>
          <p:nvPr/>
        </p:nvSpPr>
        <p:spPr>
          <a:xfrm>
            <a:off x="3402449" y="8788003"/>
            <a:ext cx="3774400"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Only the payload (the data portion) of the IP packet is encrypted/authenticated. The original IP header remains visible.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End-to-end communication between two specific hosts (e.g., a client connecting to a server).</a:t>
            </a:r>
            <a:endParaRPr lang="en-US" sz="850" dirty="0"/>
          </a:p>
        </p:txBody>
      </p:sp>
      <p:sp>
        <p:nvSpPr>
          <p:cNvPr id="39" name="Text 31"/>
          <p:cNvSpPr/>
          <p:nvPr/>
        </p:nvSpPr>
        <p:spPr>
          <a:xfrm>
            <a:off x="7461171" y="855416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Tunnel Mode</a:t>
            </a:r>
            <a:endParaRPr lang="en-US" sz="1100" dirty="0"/>
          </a:p>
        </p:txBody>
      </p:sp>
      <p:sp>
        <p:nvSpPr>
          <p:cNvPr id="40" name="Text 32"/>
          <p:cNvSpPr/>
          <p:nvPr/>
        </p:nvSpPr>
        <p:spPr>
          <a:xfrm>
            <a:off x="7461171" y="8788003"/>
            <a:ext cx="3774400"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The entire original IP packet (header + payload) is encrypted and encapsulated within a new, outer IP header. </a:t>
            </a:r>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Site-to-site VPNs (gateway-to-gateway) or connecting a host to a gateway, as it hides the internal network topology from the public internet.</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402449" y="311825"/>
            <a:ext cx="2943106" cy="354330"/>
          </a:xfrm>
          <a:prstGeom prst="rect">
            <a:avLst/>
          </a:prstGeom>
          <a:noFill/>
          <a:ln/>
        </p:spPr>
        <p:txBody>
          <a:bodyPr wrap="none" lIns="0" tIns="0" rIns="0" bIns="0" rtlCol="0" anchor="t"/>
          <a:lstStyle/>
          <a:p>
            <a:pPr algn="l" indent="0" marL="0">
              <a:lnSpc>
                <a:spcPts val="2750"/>
              </a:lnSpc>
              <a:buNone/>
            </a:pPr>
            <a:r>
              <a:rPr lang="en-US" sz="2200" dirty="0">
                <a:solidFill>
                  <a:srgbClr val="272D45"/>
                </a:solidFill>
                <a:latin typeface="Kanit Light" pitchFamily="34" charset="0"/>
                <a:ea typeface="Kanit Light" pitchFamily="34" charset="-122"/>
                <a:cs typeface="Kanit Light" pitchFamily="34" charset="-120"/>
              </a:rPr>
              <a:t>IDS, IPS, VPN, and Proxy</a:t>
            </a:r>
            <a:endParaRPr lang="en-US" sz="2200" dirty="0"/>
          </a:p>
        </p:txBody>
      </p:sp>
      <p:sp>
        <p:nvSpPr>
          <p:cNvPr id="3" name="Text 1"/>
          <p:cNvSpPr/>
          <p:nvPr/>
        </p:nvSpPr>
        <p:spPr>
          <a:xfrm>
            <a:off x="3402449" y="688777"/>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272D45"/>
                </a:solidFill>
                <a:latin typeface="Kanit Light" pitchFamily="34" charset="0"/>
                <a:ea typeface="Kanit Light" pitchFamily="34" charset="-122"/>
                <a:cs typeface="Kanit Light" pitchFamily="34" charset="-120"/>
              </a:rPr>
              <a:t>IDS and IPS</a:t>
            </a:r>
            <a:endParaRPr lang="en-US" sz="1750" dirty="0"/>
          </a:p>
        </p:txBody>
      </p:sp>
      <p:sp>
        <p:nvSpPr>
          <p:cNvPr id="4" name="Text 2"/>
          <p:cNvSpPr/>
          <p:nvPr/>
        </p:nvSpPr>
        <p:spPr>
          <a:xfrm>
            <a:off x="3402449" y="1057275"/>
            <a:ext cx="7825502"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IDS stands for Intrusion Detection System. Device or software application that monitors a network or system for malicious activity or policy violations. Any intrusion activity or violation typically reported to an administrator or collected centrally.</a:t>
            </a:r>
            <a:endParaRPr lang="en-US" sz="850" dirty="0"/>
          </a:p>
        </p:txBody>
      </p:sp>
      <p:sp>
        <p:nvSpPr>
          <p:cNvPr id="5" name="Text 3"/>
          <p:cNvSpPr/>
          <p:nvPr/>
        </p:nvSpPr>
        <p:spPr>
          <a:xfrm>
            <a:off x="3402449" y="1414463"/>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Two Types of IDS</a:t>
            </a:r>
            <a:endParaRPr lang="en-US" sz="1300" dirty="0"/>
          </a:p>
        </p:txBody>
      </p:sp>
      <p:sp>
        <p:nvSpPr>
          <p:cNvPr id="6" name="Shape 4"/>
          <p:cNvSpPr/>
          <p:nvPr/>
        </p:nvSpPr>
        <p:spPr>
          <a:xfrm>
            <a:off x="3402449" y="1712119"/>
            <a:ext cx="3884414" cy="2323981"/>
          </a:xfrm>
          <a:prstGeom prst="roundRect">
            <a:avLst>
              <a:gd name="adj" fmla="val 2050"/>
            </a:avLst>
          </a:prstGeom>
          <a:solidFill>
            <a:srgbClr val="DFECE9"/>
          </a:solidFill>
          <a:ln w="7620">
            <a:solidFill>
              <a:srgbClr val="C5D2CF"/>
            </a:solidFill>
            <a:prstDash val="solid"/>
          </a:ln>
        </p:spPr>
      </p:sp>
      <p:sp>
        <p:nvSpPr>
          <p:cNvPr id="7" name="Text 5"/>
          <p:cNvSpPr/>
          <p:nvPr/>
        </p:nvSpPr>
        <p:spPr>
          <a:xfrm>
            <a:off x="3523417" y="1833086"/>
            <a:ext cx="2646045"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Network Intrusion Detection System (NIDS)</a:t>
            </a:r>
            <a:endParaRPr lang="en-US" sz="1100" dirty="0"/>
          </a:p>
        </p:txBody>
      </p:sp>
      <p:sp>
        <p:nvSpPr>
          <p:cNvPr id="8" name="Text 6"/>
          <p:cNvSpPr/>
          <p:nvPr/>
        </p:nvSpPr>
        <p:spPr>
          <a:xfrm>
            <a:off x="3523417" y="2044184"/>
            <a:ext cx="3642479" cy="408265"/>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 NIDS is placed at strategic points within the network—typically at the perimeter (near the firewall) or at the boundaries between network segments.</a:t>
            </a:r>
            <a:endParaRPr lang="en-US" sz="850" dirty="0"/>
          </a:p>
        </p:txBody>
      </p:sp>
      <p:sp>
        <p:nvSpPr>
          <p:cNvPr id="9" name="Text 7"/>
          <p:cNvSpPr/>
          <p:nvPr/>
        </p:nvSpPr>
        <p:spPr>
          <a:xfrm>
            <a:off x="3523417" y="2486382"/>
            <a:ext cx="364247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How it works: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analyzes traffic passing through the network segment it is monitoring. It looks at the packet headers and payloads of traffic flowing between devices.</a:t>
            </a:r>
            <a:endParaRPr lang="en-US" sz="850" dirty="0"/>
          </a:p>
        </p:txBody>
      </p:sp>
      <p:sp>
        <p:nvSpPr>
          <p:cNvPr id="10" name="Text 8"/>
          <p:cNvSpPr/>
          <p:nvPr/>
        </p:nvSpPr>
        <p:spPr>
          <a:xfrm>
            <a:off x="3523417" y="2928580"/>
            <a:ext cx="364247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Detecting broad network-wide attacks, such as DoS (Denial of Service) attacks, port scanning, and malware spreading across the network.</a:t>
            </a:r>
            <a:endParaRPr lang="en-US" sz="850" dirty="0"/>
          </a:p>
        </p:txBody>
      </p:sp>
      <p:sp>
        <p:nvSpPr>
          <p:cNvPr id="11" name="Text 9"/>
          <p:cNvSpPr/>
          <p:nvPr/>
        </p:nvSpPr>
        <p:spPr>
          <a:xfrm>
            <a:off x="3523417" y="3370778"/>
            <a:ext cx="3642479" cy="544354"/>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Limitation:</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Because it sits on the network wire, it cannot inspect traffic that is encrypted unless it has the decryption keys, and it cannot see what is happening inside a specific server or workstation.</a:t>
            </a:r>
            <a:endParaRPr lang="en-US" sz="850" dirty="0"/>
          </a:p>
        </p:txBody>
      </p:sp>
      <p:sp>
        <p:nvSpPr>
          <p:cNvPr id="12" name="Shape 10"/>
          <p:cNvSpPr/>
          <p:nvPr/>
        </p:nvSpPr>
        <p:spPr>
          <a:xfrm>
            <a:off x="7343537" y="1712119"/>
            <a:ext cx="3884414" cy="2323981"/>
          </a:xfrm>
          <a:prstGeom prst="roundRect">
            <a:avLst>
              <a:gd name="adj" fmla="val 2050"/>
            </a:avLst>
          </a:prstGeom>
          <a:solidFill>
            <a:srgbClr val="DFECE9"/>
          </a:solidFill>
          <a:ln w="7620">
            <a:solidFill>
              <a:srgbClr val="C5D2CF"/>
            </a:solidFill>
            <a:prstDash val="solid"/>
          </a:ln>
        </p:spPr>
      </p:sp>
      <p:sp>
        <p:nvSpPr>
          <p:cNvPr id="13" name="Text 11"/>
          <p:cNvSpPr/>
          <p:nvPr/>
        </p:nvSpPr>
        <p:spPr>
          <a:xfrm>
            <a:off x="7464504" y="1833086"/>
            <a:ext cx="2854523"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Host-based Intrusion Detection System (HIDS)</a:t>
            </a:r>
            <a:endParaRPr lang="en-US" sz="1100" dirty="0"/>
          </a:p>
        </p:txBody>
      </p:sp>
      <p:sp>
        <p:nvSpPr>
          <p:cNvPr id="14" name="Text 12"/>
          <p:cNvSpPr/>
          <p:nvPr/>
        </p:nvSpPr>
        <p:spPr>
          <a:xfrm>
            <a:off x="7464504" y="2044184"/>
            <a:ext cx="3642479"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 HIDS is software installed directly on an individual device, such as a server, workstation, or database host.</a:t>
            </a:r>
            <a:endParaRPr lang="en-US" sz="850" dirty="0"/>
          </a:p>
        </p:txBody>
      </p:sp>
      <p:sp>
        <p:nvSpPr>
          <p:cNvPr id="15" name="Text 13"/>
          <p:cNvSpPr/>
          <p:nvPr/>
        </p:nvSpPr>
        <p:spPr>
          <a:xfrm>
            <a:off x="7464504" y="2350294"/>
            <a:ext cx="3642479" cy="544354"/>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How it works: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monitors the internal activity of that specific host. This includes tracking system call logs, file integrity (checking if critical system files have been modified), application logs, and login attempts.</a:t>
            </a:r>
            <a:endParaRPr lang="en-US" sz="850" dirty="0"/>
          </a:p>
        </p:txBody>
      </p:sp>
      <p:sp>
        <p:nvSpPr>
          <p:cNvPr id="16" name="Text 14"/>
          <p:cNvSpPr/>
          <p:nvPr/>
        </p:nvSpPr>
        <p:spPr>
          <a:xfrm>
            <a:off x="7464504" y="2928580"/>
            <a:ext cx="3642479" cy="544354"/>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Detecting attacks that have already bypassed network defenses or internal threats from a user/process already logged into the system. It is excellent for identifying unauthorized changes to sensitive files.</a:t>
            </a:r>
            <a:endParaRPr lang="en-US" sz="850" dirty="0"/>
          </a:p>
        </p:txBody>
      </p:sp>
      <p:sp>
        <p:nvSpPr>
          <p:cNvPr id="17" name="Text 15"/>
          <p:cNvSpPr/>
          <p:nvPr/>
        </p:nvSpPr>
        <p:spPr>
          <a:xfrm>
            <a:off x="7464504" y="3506867"/>
            <a:ext cx="364247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Limitation:</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only protects the device it is installed on. If you have 500 servers, you need to manage 500 individual agents, which can be resource-intensive.</a:t>
            </a:r>
            <a:endParaRPr lang="en-US" sz="850" dirty="0"/>
          </a:p>
        </p:txBody>
      </p:sp>
      <p:sp>
        <p:nvSpPr>
          <p:cNvPr id="18" name="Text 16"/>
          <p:cNvSpPr/>
          <p:nvPr/>
        </p:nvSpPr>
        <p:spPr>
          <a:xfrm>
            <a:off x="3402449" y="4099798"/>
            <a:ext cx="7825502" cy="408265"/>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An IPS is an extension of IDS. Because it is placed inline—meaning all network traffic must pass through it—it has the authority to make real-time decisions. If it identifies a threat based on its rule set, it can immediately drop the packets, block the source IP, or reset the connection to prevent the attack from succeeding.</a:t>
            </a:r>
            <a:endParaRPr lang="en-US" sz="850" dirty="0"/>
          </a:p>
        </p:txBody>
      </p:sp>
      <p:sp>
        <p:nvSpPr>
          <p:cNvPr id="19" name="Text 17"/>
          <p:cNvSpPr/>
          <p:nvPr/>
        </p:nvSpPr>
        <p:spPr>
          <a:xfrm>
            <a:off x="3402449" y="4593074"/>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Types of IPS</a:t>
            </a:r>
            <a:endParaRPr lang="en-US" sz="1300" dirty="0"/>
          </a:p>
        </p:txBody>
      </p:sp>
      <p:sp>
        <p:nvSpPr>
          <p:cNvPr id="20" name="Shape 18"/>
          <p:cNvSpPr/>
          <p:nvPr/>
        </p:nvSpPr>
        <p:spPr>
          <a:xfrm>
            <a:off x="3402449" y="5060752"/>
            <a:ext cx="3884414" cy="1779746"/>
          </a:xfrm>
          <a:prstGeom prst="roundRect">
            <a:avLst>
              <a:gd name="adj" fmla="val 4110"/>
            </a:avLst>
          </a:prstGeom>
          <a:solidFill>
            <a:srgbClr val="FFFFFF"/>
          </a:solidFill>
          <a:ln/>
        </p:spPr>
      </p:sp>
      <p:sp>
        <p:nvSpPr>
          <p:cNvPr id="21" name="Shape 19"/>
          <p:cNvSpPr/>
          <p:nvPr/>
        </p:nvSpPr>
        <p:spPr>
          <a:xfrm>
            <a:off x="3402449" y="5045512"/>
            <a:ext cx="3884414" cy="60960"/>
          </a:xfrm>
          <a:prstGeom prst="roundRect">
            <a:avLst>
              <a:gd name="adj" fmla="val 78139"/>
            </a:avLst>
          </a:prstGeom>
          <a:solidFill>
            <a:srgbClr val="437066"/>
          </a:solidFill>
          <a:ln/>
        </p:spPr>
      </p:sp>
      <p:sp>
        <p:nvSpPr>
          <p:cNvPr id="22" name="Shape 20"/>
          <p:cNvSpPr/>
          <p:nvPr/>
        </p:nvSpPr>
        <p:spPr>
          <a:xfrm>
            <a:off x="5174516" y="4890730"/>
            <a:ext cx="340162" cy="340162"/>
          </a:xfrm>
          <a:prstGeom prst="roundRect">
            <a:avLst>
              <a:gd name="adj" fmla="val 268813"/>
            </a:avLst>
          </a:prstGeom>
          <a:solidFill>
            <a:srgbClr val="437066"/>
          </a:solidFill>
          <a:ln/>
        </p:spPr>
      </p:sp>
      <p:sp>
        <p:nvSpPr>
          <p:cNvPr id="23" name="Text 21"/>
          <p:cNvSpPr/>
          <p:nvPr/>
        </p:nvSpPr>
        <p:spPr>
          <a:xfrm>
            <a:off x="5276552" y="4975741"/>
            <a:ext cx="136088" cy="170021"/>
          </a:xfrm>
          <a:prstGeom prst="rect">
            <a:avLst/>
          </a:prstGeom>
          <a:noFill/>
          <a:ln/>
        </p:spPr>
        <p:txBody>
          <a:bodyPr wrap="none" lIns="0" tIns="0" rIns="0" bIns="0" rtlCol="0" anchor="t"/>
          <a:lstStyle/>
          <a:p>
            <a:pPr algn="l" indent="0" marL="0">
              <a:lnSpc>
                <a:spcPts val="1250"/>
              </a:lnSpc>
              <a:buNone/>
            </a:pPr>
            <a:r>
              <a:rPr lang="en-US" sz="1050" dirty="0">
                <a:solidFill>
                  <a:srgbClr val="FFFFFF"/>
                </a:solidFill>
                <a:latin typeface="Kanit Light" pitchFamily="34" charset="0"/>
                <a:ea typeface="Kanit Light" pitchFamily="34" charset="-122"/>
                <a:cs typeface="Kanit Light" pitchFamily="34" charset="-120"/>
              </a:rPr>
              <a:t>1</a:t>
            </a:r>
            <a:endParaRPr lang="en-US" sz="1050" dirty="0"/>
          </a:p>
        </p:txBody>
      </p:sp>
      <p:sp>
        <p:nvSpPr>
          <p:cNvPr id="24" name="Text 22"/>
          <p:cNvSpPr/>
          <p:nvPr/>
        </p:nvSpPr>
        <p:spPr>
          <a:xfrm>
            <a:off x="3531037" y="5344239"/>
            <a:ext cx="1594842"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Network-based IPS (NIPS)</a:t>
            </a:r>
            <a:endParaRPr lang="en-US" sz="1100" dirty="0"/>
          </a:p>
        </p:txBody>
      </p:sp>
      <p:sp>
        <p:nvSpPr>
          <p:cNvPr id="25" name="Text 23"/>
          <p:cNvSpPr/>
          <p:nvPr/>
        </p:nvSpPr>
        <p:spPr>
          <a:xfrm>
            <a:off x="3531037" y="5555337"/>
            <a:ext cx="362723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does: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Monitors the entire network by analyzing traffic at strategic points, usually near the perimeter (behind the firewall) or between critical network segments.</a:t>
            </a:r>
            <a:endParaRPr lang="en-US" sz="850" dirty="0"/>
          </a:p>
        </p:txBody>
      </p:sp>
      <p:sp>
        <p:nvSpPr>
          <p:cNvPr id="26" name="Text 24"/>
          <p:cNvSpPr/>
          <p:nvPr/>
        </p:nvSpPr>
        <p:spPr>
          <a:xfrm>
            <a:off x="3531037" y="5997535"/>
            <a:ext cx="362723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Key Focus: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inspects packets and protocol activity to identify threats like DoS attacks, port scans, and network-wide malware propagation.</a:t>
            </a:r>
            <a:endParaRPr lang="en-US" sz="850" dirty="0"/>
          </a:p>
        </p:txBody>
      </p:sp>
      <p:sp>
        <p:nvSpPr>
          <p:cNvPr id="27" name="Text 25"/>
          <p:cNvSpPr/>
          <p:nvPr/>
        </p:nvSpPr>
        <p:spPr>
          <a:xfrm>
            <a:off x="3531037" y="6439733"/>
            <a:ext cx="3627239"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Broad, enterprise-level protection where you need to catch malicious traffic before it reaches your internal assets.</a:t>
            </a:r>
            <a:endParaRPr lang="en-US" sz="850" dirty="0"/>
          </a:p>
        </p:txBody>
      </p:sp>
      <p:sp>
        <p:nvSpPr>
          <p:cNvPr id="28" name="Shape 26"/>
          <p:cNvSpPr/>
          <p:nvPr/>
        </p:nvSpPr>
        <p:spPr>
          <a:xfrm>
            <a:off x="7343537" y="5060752"/>
            <a:ext cx="3884414" cy="1779746"/>
          </a:xfrm>
          <a:prstGeom prst="roundRect">
            <a:avLst>
              <a:gd name="adj" fmla="val 4110"/>
            </a:avLst>
          </a:prstGeom>
          <a:solidFill>
            <a:srgbClr val="FFFFFF"/>
          </a:solidFill>
          <a:ln/>
        </p:spPr>
      </p:sp>
      <p:sp>
        <p:nvSpPr>
          <p:cNvPr id="29" name="Shape 27"/>
          <p:cNvSpPr/>
          <p:nvPr/>
        </p:nvSpPr>
        <p:spPr>
          <a:xfrm>
            <a:off x="7343537" y="5045512"/>
            <a:ext cx="3884414" cy="60960"/>
          </a:xfrm>
          <a:prstGeom prst="roundRect">
            <a:avLst>
              <a:gd name="adj" fmla="val 78139"/>
            </a:avLst>
          </a:prstGeom>
          <a:solidFill>
            <a:srgbClr val="437066"/>
          </a:solidFill>
          <a:ln/>
        </p:spPr>
      </p:sp>
      <p:sp>
        <p:nvSpPr>
          <p:cNvPr id="30" name="Shape 28"/>
          <p:cNvSpPr/>
          <p:nvPr/>
        </p:nvSpPr>
        <p:spPr>
          <a:xfrm>
            <a:off x="9115604" y="4890730"/>
            <a:ext cx="340162" cy="340162"/>
          </a:xfrm>
          <a:prstGeom prst="roundRect">
            <a:avLst>
              <a:gd name="adj" fmla="val 268813"/>
            </a:avLst>
          </a:prstGeom>
          <a:solidFill>
            <a:srgbClr val="437066"/>
          </a:solidFill>
          <a:ln/>
        </p:spPr>
      </p:sp>
      <p:sp>
        <p:nvSpPr>
          <p:cNvPr id="31" name="Text 29"/>
          <p:cNvSpPr/>
          <p:nvPr/>
        </p:nvSpPr>
        <p:spPr>
          <a:xfrm>
            <a:off x="9217640" y="4975741"/>
            <a:ext cx="136088" cy="170021"/>
          </a:xfrm>
          <a:prstGeom prst="rect">
            <a:avLst/>
          </a:prstGeom>
          <a:noFill/>
          <a:ln/>
        </p:spPr>
        <p:txBody>
          <a:bodyPr wrap="none" lIns="0" tIns="0" rIns="0" bIns="0" rtlCol="0" anchor="t"/>
          <a:lstStyle/>
          <a:p>
            <a:pPr algn="l" indent="0" marL="0">
              <a:lnSpc>
                <a:spcPts val="1250"/>
              </a:lnSpc>
              <a:buNone/>
            </a:pPr>
            <a:r>
              <a:rPr lang="en-US" sz="1050" dirty="0">
                <a:solidFill>
                  <a:srgbClr val="FFFFFF"/>
                </a:solidFill>
                <a:latin typeface="Kanit Light" pitchFamily="34" charset="0"/>
                <a:ea typeface="Kanit Light" pitchFamily="34" charset="-122"/>
                <a:cs typeface="Kanit Light" pitchFamily="34" charset="-120"/>
              </a:rPr>
              <a:t>2</a:t>
            </a:r>
            <a:endParaRPr lang="en-US" sz="1050" dirty="0"/>
          </a:p>
        </p:txBody>
      </p:sp>
      <p:sp>
        <p:nvSpPr>
          <p:cNvPr id="32" name="Text 30"/>
          <p:cNvSpPr/>
          <p:nvPr/>
        </p:nvSpPr>
        <p:spPr>
          <a:xfrm>
            <a:off x="7472124" y="534423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Host-based IPS (HIPS)</a:t>
            </a:r>
            <a:endParaRPr lang="en-US" sz="1100" dirty="0"/>
          </a:p>
        </p:txBody>
      </p:sp>
      <p:sp>
        <p:nvSpPr>
          <p:cNvPr id="33" name="Text 31"/>
          <p:cNvSpPr/>
          <p:nvPr/>
        </p:nvSpPr>
        <p:spPr>
          <a:xfrm>
            <a:off x="7472124" y="5555337"/>
            <a:ext cx="3627239"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does: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Installed directly on an individual endpoint (a server, workstation, or database).</a:t>
            </a:r>
            <a:endParaRPr lang="en-US" sz="850" dirty="0"/>
          </a:p>
        </p:txBody>
      </p:sp>
      <p:sp>
        <p:nvSpPr>
          <p:cNvPr id="34" name="Text 32"/>
          <p:cNvSpPr/>
          <p:nvPr/>
        </p:nvSpPr>
        <p:spPr>
          <a:xfrm>
            <a:off x="7472124" y="5861447"/>
            <a:ext cx="362723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Key Focus: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monitors activity specifically on that device—such as system calls, file integrity, and I/O operations—and blocks malicious traffic destined for that machine.</a:t>
            </a:r>
            <a:endParaRPr lang="en-US" sz="850" dirty="0"/>
          </a:p>
        </p:txBody>
      </p:sp>
      <p:sp>
        <p:nvSpPr>
          <p:cNvPr id="35" name="Text 33"/>
          <p:cNvSpPr/>
          <p:nvPr/>
        </p:nvSpPr>
        <p:spPr>
          <a:xfrm>
            <a:off x="7472124" y="6303645"/>
            <a:ext cx="3627239" cy="408265"/>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Protecting high-value targets (like a database server) or providing a "last line of defense" if a threat manages to bypass the NIPS.</a:t>
            </a:r>
            <a:endParaRPr lang="en-US" sz="850" dirty="0"/>
          </a:p>
        </p:txBody>
      </p:sp>
      <p:sp>
        <p:nvSpPr>
          <p:cNvPr id="36" name="Shape 34"/>
          <p:cNvSpPr/>
          <p:nvPr/>
        </p:nvSpPr>
        <p:spPr>
          <a:xfrm>
            <a:off x="3402449" y="7067193"/>
            <a:ext cx="3884414" cy="1779746"/>
          </a:xfrm>
          <a:prstGeom prst="roundRect">
            <a:avLst>
              <a:gd name="adj" fmla="val 4110"/>
            </a:avLst>
          </a:prstGeom>
          <a:solidFill>
            <a:srgbClr val="FFFFFF"/>
          </a:solidFill>
          <a:ln/>
        </p:spPr>
      </p:sp>
      <p:sp>
        <p:nvSpPr>
          <p:cNvPr id="37" name="Shape 35"/>
          <p:cNvSpPr/>
          <p:nvPr/>
        </p:nvSpPr>
        <p:spPr>
          <a:xfrm>
            <a:off x="3402449" y="7051953"/>
            <a:ext cx="3884414" cy="60960"/>
          </a:xfrm>
          <a:prstGeom prst="roundRect">
            <a:avLst>
              <a:gd name="adj" fmla="val 78139"/>
            </a:avLst>
          </a:prstGeom>
          <a:solidFill>
            <a:srgbClr val="437066"/>
          </a:solidFill>
          <a:ln/>
        </p:spPr>
      </p:sp>
      <p:sp>
        <p:nvSpPr>
          <p:cNvPr id="38" name="Shape 36"/>
          <p:cNvSpPr/>
          <p:nvPr/>
        </p:nvSpPr>
        <p:spPr>
          <a:xfrm>
            <a:off x="5174516" y="6897172"/>
            <a:ext cx="340162" cy="340162"/>
          </a:xfrm>
          <a:prstGeom prst="roundRect">
            <a:avLst>
              <a:gd name="adj" fmla="val 268813"/>
            </a:avLst>
          </a:prstGeom>
          <a:solidFill>
            <a:srgbClr val="437066"/>
          </a:solidFill>
          <a:ln/>
        </p:spPr>
      </p:sp>
      <p:sp>
        <p:nvSpPr>
          <p:cNvPr id="39" name="Text 37"/>
          <p:cNvSpPr/>
          <p:nvPr/>
        </p:nvSpPr>
        <p:spPr>
          <a:xfrm>
            <a:off x="5276552" y="6982182"/>
            <a:ext cx="136088" cy="170021"/>
          </a:xfrm>
          <a:prstGeom prst="rect">
            <a:avLst/>
          </a:prstGeom>
          <a:noFill/>
          <a:ln/>
        </p:spPr>
        <p:txBody>
          <a:bodyPr wrap="none" lIns="0" tIns="0" rIns="0" bIns="0" rtlCol="0" anchor="t"/>
          <a:lstStyle/>
          <a:p>
            <a:pPr algn="l" indent="0" marL="0">
              <a:lnSpc>
                <a:spcPts val="1250"/>
              </a:lnSpc>
              <a:buNone/>
            </a:pPr>
            <a:r>
              <a:rPr lang="en-US" sz="1050" dirty="0">
                <a:solidFill>
                  <a:srgbClr val="FFFFFF"/>
                </a:solidFill>
                <a:latin typeface="Kanit Light" pitchFamily="34" charset="0"/>
                <a:ea typeface="Kanit Light" pitchFamily="34" charset="-122"/>
                <a:cs typeface="Kanit Light" pitchFamily="34" charset="-120"/>
              </a:rPr>
              <a:t>3</a:t>
            </a:r>
            <a:endParaRPr lang="en-US" sz="1050" dirty="0"/>
          </a:p>
        </p:txBody>
      </p:sp>
      <p:sp>
        <p:nvSpPr>
          <p:cNvPr id="40" name="Text 38"/>
          <p:cNvSpPr/>
          <p:nvPr/>
        </p:nvSpPr>
        <p:spPr>
          <a:xfrm>
            <a:off x="3531037" y="7350681"/>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Wireless IPS (WIPS)</a:t>
            </a:r>
            <a:endParaRPr lang="en-US" sz="1100" dirty="0"/>
          </a:p>
        </p:txBody>
      </p:sp>
      <p:sp>
        <p:nvSpPr>
          <p:cNvPr id="41" name="Text 39"/>
          <p:cNvSpPr/>
          <p:nvPr/>
        </p:nvSpPr>
        <p:spPr>
          <a:xfrm>
            <a:off x="3531037" y="7561778"/>
            <a:ext cx="3627239" cy="136088"/>
          </a:xfrm>
          <a:prstGeom prst="rect">
            <a:avLst/>
          </a:prstGeom>
          <a:noFill/>
          <a:ln/>
        </p:spPr>
        <p:txBody>
          <a:bodyPr wrap="non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does: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Monitors your wireless network (Wi-Fi) specifically.</a:t>
            </a:r>
            <a:endParaRPr lang="en-US" sz="850" dirty="0"/>
          </a:p>
        </p:txBody>
      </p:sp>
      <p:sp>
        <p:nvSpPr>
          <p:cNvPr id="42" name="Text 40"/>
          <p:cNvSpPr/>
          <p:nvPr/>
        </p:nvSpPr>
        <p:spPr>
          <a:xfrm>
            <a:off x="3531037" y="7731800"/>
            <a:ext cx="3627239" cy="544354"/>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Key Focus: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acts as a gatekeeper for the radio spectrum, scanning for unauthorized access points (rogue APs), man-in-the-middle attacks, and brute-force attempts against wireless protocols.</a:t>
            </a:r>
            <a:endParaRPr lang="en-US" sz="850" dirty="0"/>
          </a:p>
        </p:txBody>
      </p:sp>
      <p:sp>
        <p:nvSpPr>
          <p:cNvPr id="43" name="Text 41"/>
          <p:cNvSpPr/>
          <p:nvPr/>
        </p:nvSpPr>
        <p:spPr>
          <a:xfrm>
            <a:off x="3531037" y="8310086"/>
            <a:ext cx="3627239"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Ensuring that the airwaves around your building remain secure and free from unauthorized entry points.</a:t>
            </a:r>
            <a:endParaRPr lang="en-US" sz="850" dirty="0"/>
          </a:p>
        </p:txBody>
      </p:sp>
      <p:sp>
        <p:nvSpPr>
          <p:cNvPr id="44" name="Shape 42"/>
          <p:cNvSpPr/>
          <p:nvPr/>
        </p:nvSpPr>
        <p:spPr>
          <a:xfrm>
            <a:off x="7343537" y="7067193"/>
            <a:ext cx="3884414" cy="1779746"/>
          </a:xfrm>
          <a:prstGeom prst="roundRect">
            <a:avLst>
              <a:gd name="adj" fmla="val 4110"/>
            </a:avLst>
          </a:prstGeom>
          <a:solidFill>
            <a:srgbClr val="FFFFFF"/>
          </a:solidFill>
          <a:ln/>
        </p:spPr>
      </p:sp>
      <p:sp>
        <p:nvSpPr>
          <p:cNvPr id="45" name="Shape 43"/>
          <p:cNvSpPr/>
          <p:nvPr/>
        </p:nvSpPr>
        <p:spPr>
          <a:xfrm>
            <a:off x="7343537" y="7051953"/>
            <a:ext cx="3884414" cy="60960"/>
          </a:xfrm>
          <a:prstGeom prst="roundRect">
            <a:avLst>
              <a:gd name="adj" fmla="val 78139"/>
            </a:avLst>
          </a:prstGeom>
          <a:solidFill>
            <a:srgbClr val="437066"/>
          </a:solidFill>
          <a:ln/>
        </p:spPr>
      </p:sp>
      <p:sp>
        <p:nvSpPr>
          <p:cNvPr id="46" name="Shape 44"/>
          <p:cNvSpPr/>
          <p:nvPr/>
        </p:nvSpPr>
        <p:spPr>
          <a:xfrm>
            <a:off x="9115604" y="6897172"/>
            <a:ext cx="340162" cy="340162"/>
          </a:xfrm>
          <a:prstGeom prst="roundRect">
            <a:avLst>
              <a:gd name="adj" fmla="val 268813"/>
            </a:avLst>
          </a:prstGeom>
          <a:solidFill>
            <a:srgbClr val="437066"/>
          </a:solidFill>
          <a:ln/>
        </p:spPr>
      </p:sp>
      <p:sp>
        <p:nvSpPr>
          <p:cNvPr id="47" name="Text 45"/>
          <p:cNvSpPr/>
          <p:nvPr/>
        </p:nvSpPr>
        <p:spPr>
          <a:xfrm>
            <a:off x="9217640" y="6982182"/>
            <a:ext cx="136088" cy="170021"/>
          </a:xfrm>
          <a:prstGeom prst="rect">
            <a:avLst/>
          </a:prstGeom>
          <a:noFill/>
          <a:ln/>
        </p:spPr>
        <p:txBody>
          <a:bodyPr wrap="none" lIns="0" tIns="0" rIns="0" bIns="0" rtlCol="0" anchor="t"/>
          <a:lstStyle/>
          <a:p>
            <a:pPr algn="l" indent="0" marL="0">
              <a:lnSpc>
                <a:spcPts val="1250"/>
              </a:lnSpc>
              <a:buNone/>
            </a:pPr>
            <a:r>
              <a:rPr lang="en-US" sz="1050" dirty="0">
                <a:solidFill>
                  <a:srgbClr val="FFFFFF"/>
                </a:solidFill>
                <a:latin typeface="Kanit Light" pitchFamily="34" charset="0"/>
                <a:ea typeface="Kanit Light" pitchFamily="34" charset="-122"/>
                <a:cs typeface="Kanit Light" pitchFamily="34" charset="-120"/>
              </a:rPr>
              <a:t>4</a:t>
            </a:r>
            <a:endParaRPr lang="en-US" sz="1050" dirty="0"/>
          </a:p>
        </p:txBody>
      </p:sp>
      <p:sp>
        <p:nvSpPr>
          <p:cNvPr id="48" name="Text 46"/>
          <p:cNvSpPr/>
          <p:nvPr/>
        </p:nvSpPr>
        <p:spPr>
          <a:xfrm>
            <a:off x="7472124" y="7350681"/>
            <a:ext cx="2057162" cy="177165"/>
          </a:xfrm>
          <a:prstGeom prst="rect">
            <a:avLst/>
          </a:prstGeom>
          <a:noFill/>
          <a:ln/>
        </p:spPr>
        <p:txBody>
          <a:bodyPr wrap="none" lIns="0" tIns="0" rIns="0" bIns="0" rtlCol="0" anchor="t"/>
          <a:lstStyle/>
          <a:p>
            <a:pPr algn="l" indent="0" marL="0">
              <a:lnSpc>
                <a:spcPts val="1350"/>
              </a:lnSpc>
              <a:buNone/>
            </a:pPr>
            <a:r>
              <a:rPr lang="en-US" sz="1100" dirty="0">
                <a:solidFill>
                  <a:srgbClr val="2C3249"/>
                </a:solidFill>
                <a:latin typeface="Kanit Light" pitchFamily="34" charset="0"/>
                <a:ea typeface="Kanit Light" pitchFamily="34" charset="-122"/>
                <a:cs typeface="Kanit Light" pitchFamily="34" charset="-120"/>
              </a:rPr>
              <a:t>Network Behavior Analysis (NBA)</a:t>
            </a:r>
            <a:endParaRPr lang="en-US" sz="1100" dirty="0"/>
          </a:p>
        </p:txBody>
      </p:sp>
      <p:sp>
        <p:nvSpPr>
          <p:cNvPr id="49" name="Text 47"/>
          <p:cNvSpPr/>
          <p:nvPr/>
        </p:nvSpPr>
        <p:spPr>
          <a:xfrm>
            <a:off x="7472124" y="7561778"/>
            <a:ext cx="3627239"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does: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Rather than just looking for specific "bad" packets, it looks for unusual traffic patterns or flows across the network.</a:t>
            </a:r>
            <a:endParaRPr lang="en-US" sz="850" dirty="0"/>
          </a:p>
        </p:txBody>
      </p:sp>
      <p:sp>
        <p:nvSpPr>
          <p:cNvPr id="50" name="Text 48"/>
          <p:cNvSpPr/>
          <p:nvPr/>
        </p:nvSpPr>
        <p:spPr>
          <a:xfrm>
            <a:off x="7472124" y="7867888"/>
            <a:ext cx="3627239" cy="544354"/>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Key Focus: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is highly effective at identifying threats that don't rely on known signatures, such as a compromised machine suddenly starting a massive data exfiltration or a distributed denial-of-service (DDoS) attack.</a:t>
            </a:r>
            <a:endParaRPr lang="en-US" sz="850" dirty="0"/>
          </a:p>
        </p:txBody>
      </p:sp>
      <p:sp>
        <p:nvSpPr>
          <p:cNvPr id="51" name="Text 49"/>
          <p:cNvSpPr/>
          <p:nvPr/>
        </p:nvSpPr>
        <p:spPr>
          <a:xfrm>
            <a:off x="7472124" y="8446175"/>
            <a:ext cx="3627239"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Best for: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Detecting sophisticated attacks, insider threats, and anomalies that traditional signature-based systems might miss.</a:t>
            </a:r>
            <a:endParaRPr lang="en-US" sz="850" dirty="0"/>
          </a:p>
        </p:txBody>
      </p:sp>
      <p:sp>
        <p:nvSpPr>
          <p:cNvPr id="52" name="Text 50"/>
          <p:cNvSpPr/>
          <p:nvPr/>
        </p:nvSpPr>
        <p:spPr>
          <a:xfrm>
            <a:off x="3402449" y="8931950"/>
            <a:ext cx="2268260" cy="283488"/>
          </a:xfrm>
          <a:prstGeom prst="rect">
            <a:avLst/>
          </a:prstGeom>
          <a:noFill/>
          <a:ln/>
        </p:spPr>
        <p:txBody>
          <a:bodyPr wrap="none" lIns="0" tIns="0" rIns="0" bIns="0" rtlCol="0" anchor="t"/>
          <a:lstStyle/>
          <a:p>
            <a:pPr algn="l" indent="0" marL="0">
              <a:lnSpc>
                <a:spcPts val="2200"/>
              </a:lnSpc>
              <a:buNone/>
            </a:pPr>
            <a:r>
              <a:rPr lang="en-US" sz="1750" dirty="0">
                <a:solidFill>
                  <a:srgbClr val="272D45"/>
                </a:solidFill>
                <a:latin typeface="Kanit Light" pitchFamily="34" charset="0"/>
                <a:ea typeface="Kanit Light" pitchFamily="34" charset="-122"/>
                <a:cs typeface="Kanit Light" pitchFamily="34" charset="-120"/>
              </a:rPr>
              <a:t>VPN / Proxy</a:t>
            </a:r>
            <a:endParaRPr lang="en-US" sz="1750" dirty="0"/>
          </a:p>
        </p:txBody>
      </p:sp>
      <p:sp>
        <p:nvSpPr>
          <p:cNvPr id="53" name="Text 51"/>
          <p:cNvSpPr/>
          <p:nvPr/>
        </p:nvSpPr>
        <p:spPr>
          <a:xfrm>
            <a:off x="3402449" y="9357122"/>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VPN</a:t>
            </a:r>
            <a:endParaRPr lang="en-US" sz="1300" dirty="0"/>
          </a:p>
        </p:txBody>
      </p:sp>
      <p:sp>
        <p:nvSpPr>
          <p:cNvPr id="54" name="Text 52"/>
          <p:cNvSpPr/>
          <p:nvPr/>
        </p:nvSpPr>
        <p:spPr>
          <a:xfrm>
            <a:off x="3402449" y="9626441"/>
            <a:ext cx="3774400"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VPN stands for Virtual Private Network. It's a secure and encrypted connection between device and network.</a:t>
            </a:r>
            <a:endParaRPr lang="en-US" sz="850" dirty="0"/>
          </a:p>
        </p:txBody>
      </p:sp>
      <p:sp>
        <p:nvSpPr>
          <p:cNvPr id="55" name="Text 53"/>
          <p:cNvSpPr/>
          <p:nvPr/>
        </p:nvSpPr>
        <p:spPr>
          <a:xfrm>
            <a:off x="3402449" y="995529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Key Benefits</a:t>
            </a:r>
            <a:endParaRPr lang="en-US" sz="1100" dirty="0"/>
          </a:p>
        </p:txBody>
      </p:sp>
      <p:sp>
        <p:nvSpPr>
          <p:cNvPr id="56" name="Text 54"/>
          <p:cNvSpPr/>
          <p:nvPr/>
        </p:nvSpPr>
        <p:spPr>
          <a:xfrm>
            <a:off x="3402449" y="10189131"/>
            <a:ext cx="3774400" cy="856059"/>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Enhanced Security: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Encryption protects your data from being intercepted, which is vital when using public Wi-Fi.</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Privacy/Anonymity: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Your ISP cannot see which websites you visit; they only see that you are connected to a VPN server.</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Geo-Unblocking: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By masking your location, you can access content or services that may be restricted in your current region.</a:t>
            </a:r>
            <a:endParaRPr lang="en-US" sz="850" dirty="0"/>
          </a:p>
        </p:txBody>
      </p:sp>
      <p:sp>
        <p:nvSpPr>
          <p:cNvPr id="57" name="Text 55"/>
          <p:cNvSpPr/>
          <p:nvPr/>
        </p:nvSpPr>
        <p:spPr>
          <a:xfrm>
            <a:off x="3402449" y="1110186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Common Use Cases</a:t>
            </a:r>
            <a:endParaRPr lang="en-US" sz="1100" dirty="0"/>
          </a:p>
        </p:txBody>
      </p:sp>
      <p:sp>
        <p:nvSpPr>
          <p:cNvPr id="58" name="Text 56"/>
          <p:cNvSpPr/>
          <p:nvPr/>
        </p:nvSpPr>
        <p:spPr>
          <a:xfrm>
            <a:off x="3402449" y="11335703"/>
            <a:ext cx="3774400" cy="856059"/>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Remote Work:</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Providing employees secure access to internal company resources while working from home.</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Public Wi-Fi Protection:</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Securing browsing sessions in coffee shops, airports, or hotels where network traffic is easily sniffed.</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Bypassing Censorship:</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Accessing information in regions where certain websites or social media platforms are restricted.</a:t>
            </a:r>
            <a:endParaRPr lang="en-US" sz="850" dirty="0"/>
          </a:p>
        </p:txBody>
      </p:sp>
      <p:sp>
        <p:nvSpPr>
          <p:cNvPr id="59" name="Text 57"/>
          <p:cNvSpPr/>
          <p:nvPr/>
        </p:nvSpPr>
        <p:spPr>
          <a:xfrm>
            <a:off x="3402449" y="12248436"/>
            <a:ext cx="3296722"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The Privacy Reality: What a VPN Does and Doesn't Do</a:t>
            </a:r>
            <a:endParaRPr lang="en-US" sz="1100" dirty="0"/>
          </a:p>
        </p:txBody>
      </p:sp>
      <p:sp>
        <p:nvSpPr>
          <p:cNvPr id="60" name="Text 58"/>
          <p:cNvSpPr/>
          <p:nvPr/>
        </p:nvSpPr>
        <p:spPr>
          <a:xfrm>
            <a:off x="3402449" y="12482274"/>
            <a:ext cx="3774400"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It is a common misconception that a VPN makes you "invisible." It is important to understand the limits:</a:t>
            </a:r>
            <a:endParaRPr lang="en-US" sz="850" dirty="0"/>
          </a:p>
        </p:txBody>
      </p:sp>
      <p:sp>
        <p:nvSpPr>
          <p:cNvPr id="61" name="Text 59"/>
          <p:cNvSpPr/>
          <p:nvPr/>
        </p:nvSpPr>
        <p:spPr>
          <a:xfrm>
            <a:off x="3402449" y="12805410"/>
            <a:ext cx="3774400" cy="272177"/>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protects: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It hides your IP address and encrypts your traffic from your ISP and local network snoopers.</a:t>
            </a:r>
            <a:endParaRPr lang="en-US" sz="850" dirty="0"/>
          </a:p>
        </p:txBody>
      </p:sp>
      <p:sp>
        <p:nvSpPr>
          <p:cNvPr id="62" name="Text 60"/>
          <p:cNvSpPr/>
          <p:nvPr/>
        </p:nvSpPr>
        <p:spPr>
          <a:xfrm>
            <a:off x="3402449" y="13128546"/>
            <a:ext cx="3774400" cy="680442"/>
          </a:xfrm>
          <a:prstGeom prst="rect">
            <a:avLst/>
          </a:prstGeom>
          <a:noFill/>
          <a:ln/>
        </p:spPr>
        <p:txBody>
          <a:bodyPr wrap="square" lIns="0" tIns="0" rIns="0" bIns="0" rtlCol="0" anchor="t"/>
          <a:lstStyle/>
          <a:p>
            <a:pPr algn="l" indent="0" marL="0">
              <a:lnSpc>
                <a:spcPts val="1050"/>
              </a:lnSpc>
              <a:buNone/>
            </a:pPr>
            <a:r>
              <a:rPr lang="en-US" sz="850" b="1" dirty="0">
                <a:solidFill>
                  <a:srgbClr val="2C3249"/>
                </a:solidFill>
                <a:latin typeface="Martel Sans" pitchFamily="34" charset="0"/>
                <a:ea typeface="Martel Sans" pitchFamily="34" charset="-122"/>
                <a:cs typeface="Martel Sans" pitchFamily="34" charset="-120"/>
              </a:rPr>
              <a:t>What it doesn't protect:</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If you log into a website (like Google or Facebook), that website still knows exactly who you are based on your credentials. Furthermore, you are shifting your trust from your ISP to the VPN provider—they can see all the traffic you send through their servers.</a:t>
            </a:r>
            <a:endParaRPr lang="en-US" sz="850" dirty="0"/>
          </a:p>
        </p:txBody>
      </p:sp>
      <p:sp>
        <p:nvSpPr>
          <p:cNvPr id="63" name="Text 61"/>
          <p:cNvSpPr/>
          <p:nvPr/>
        </p:nvSpPr>
        <p:spPr>
          <a:xfrm>
            <a:off x="3402449" y="1386566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Disadvantages</a:t>
            </a:r>
            <a:endParaRPr lang="en-US" sz="1100" dirty="0"/>
          </a:p>
        </p:txBody>
      </p:sp>
      <p:sp>
        <p:nvSpPr>
          <p:cNvPr id="64" name="Text 62"/>
          <p:cNvSpPr/>
          <p:nvPr/>
        </p:nvSpPr>
        <p:spPr>
          <a:xfrm>
            <a:off x="3402449" y="14099500"/>
            <a:ext cx="3774400" cy="1128236"/>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Performance Latency: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Because your data must travel to a remote VPN server before reaching its final destination, you may experience slower internet speeds.</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The "Trust" Factor:</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You are essentially giving the VPN company the ability to monitor your traffic. Choosing a reputable provider with a verified "no-logs" policy is critical.</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Blocked Connections: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Some websites and services actively block IP addresses associated with known VPN providers.</a:t>
            </a:r>
            <a:endParaRPr lang="en-US" sz="850" dirty="0"/>
          </a:p>
        </p:txBody>
      </p:sp>
      <p:sp>
        <p:nvSpPr>
          <p:cNvPr id="65" name="Text 63"/>
          <p:cNvSpPr/>
          <p:nvPr/>
        </p:nvSpPr>
        <p:spPr>
          <a:xfrm>
            <a:off x="7461171" y="9357122"/>
            <a:ext cx="1701165" cy="212646"/>
          </a:xfrm>
          <a:prstGeom prst="rect">
            <a:avLst/>
          </a:prstGeom>
          <a:noFill/>
          <a:ln/>
        </p:spPr>
        <p:txBody>
          <a:bodyPr wrap="none" lIns="0" tIns="0" rIns="0" bIns="0" rtlCol="0" anchor="t"/>
          <a:lstStyle/>
          <a:p>
            <a:pPr algn="l" indent="0" marL="0">
              <a:lnSpc>
                <a:spcPts val="1650"/>
              </a:lnSpc>
              <a:buNone/>
            </a:pPr>
            <a:r>
              <a:rPr lang="en-US" sz="1300" dirty="0">
                <a:solidFill>
                  <a:srgbClr val="272D45"/>
                </a:solidFill>
                <a:latin typeface="Kanit Light" pitchFamily="34" charset="0"/>
                <a:ea typeface="Kanit Light" pitchFamily="34" charset="-122"/>
                <a:cs typeface="Kanit Light" pitchFamily="34" charset="-120"/>
              </a:rPr>
              <a:t>Proxy</a:t>
            </a:r>
            <a:endParaRPr lang="en-US" sz="1300" dirty="0"/>
          </a:p>
        </p:txBody>
      </p:sp>
      <p:sp>
        <p:nvSpPr>
          <p:cNvPr id="66" name="Text 64"/>
          <p:cNvSpPr/>
          <p:nvPr/>
        </p:nvSpPr>
        <p:spPr>
          <a:xfrm>
            <a:off x="7461171" y="9626441"/>
            <a:ext cx="3774400" cy="544354"/>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A proxy server acts as an intermediary between your device and the internet. When you use one, your web requests don't go directly to the website; they go to the proxy, which then forwards the request on your behalf, receives the response, and sends it back to you.</a:t>
            </a:r>
            <a:endParaRPr lang="en-US" sz="850" dirty="0"/>
          </a:p>
        </p:txBody>
      </p:sp>
      <p:sp>
        <p:nvSpPr>
          <p:cNvPr id="67" name="Text 65"/>
          <p:cNvSpPr/>
          <p:nvPr/>
        </p:nvSpPr>
        <p:spPr>
          <a:xfrm>
            <a:off x="7461171" y="10227469"/>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Key Benefits</a:t>
            </a:r>
            <a:endParaRPr lang="en-US" sz="1100" dirty="0"/>
          </a:p>
        </p:txBody>
      </p:sp>
      <p:sp>
        <p:nvSpPr>
          <p:cNvPr id="68" name="Text 66"/>
          <p:cNvSpPr/>
          <p:nvPr/>
        </p:nvSpPr>
        <p:spPr>
          <a:xfrm>
            <a:off x="7461171" y="10461308"/>
            <a:ext cx="3774400" cy="1148001"/>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Anonymity: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The website sees the proxy's IP address, not yours.</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Bypassing Restrictions: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You can access geo-blocked content by using a proxy located in a different country.</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Security (Caching):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Many proxies cache web pages; if multiple users request the same site, the proxy serves the saved copy, saving bandwidth and increasing speed.</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Content Filtering: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Organizations use them to block access to specific websites for employees or students.</a:t>
            </a:r>
            <a:endParaRPr lang="en-US" sz="850" dirty="0"/>
          </a:p>
        </p:txBody>
      </p:sp>
      <p:sp>
        <p:nvSpPr>
          <p:cNvPr id="69" name="Text 67"/>
          <p:cNvSpPr/>
          <p:nvPr/>
        </p:nvSpPr>
        <p:spPr>
          <a:xfrm>
            <a:off x="7461171" y="11665982"/>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Common Use Cases</a:t>
            </a:r>
            <a:endParaRPr lang="en-US" sz="1100" dirty="0"/>
          </a:p>
        </p:txBody>
      </p:sp>
      <p:sp>
        <p:nvSpPr>
          <p:cNvPr id="70" name="Text 68"/>
          <p:cNvSpPr/>
          <p:nvPr/>
        </p:nvSpPr>
        <p:spPr>
          <a:xfrm>
            <a:off x="7461171" y="11899821"/>
            <a:ext cx="3774400" cy="856059"/>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Web Scraping: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Gathering data from websites without being blocked for too many requests from one IP.</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Bypassing Censorship:</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Accessing information in regions with strict internet firewalls.</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Security Layering: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Hiding the internal network structure from the public internet.</a:t>
            </a:r>
            <a:endParaRPr lang="en-US" sz="850" dirty="0"/>
          </a:p>
        </p:txBody>
      </p:sp>
      <p:sp>
        <p:nvSpPr>
          <p:cNvPr id="71" name="Text 69"/>
          <p:cNvSpPr/>
          <p:nvPr/>
        </p:nvSpPr>
        <p:spPr>
          <a:xfrm>
            <a:off x="7461171" y="12812554"/>
            <a:ext cx="1417558"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Disadvantages</a:t>
            </a:r>
            <a:endParaRPr lang="en-US" sz="1100" dirty="0"/>
          </a:p>
        </p:txBody>
      </p:sp>
      <p:sp>
        <p:nvSpPr>
          <p:cNvPr id="72" name="Text 70"/>
          <p:cNvSpPr/>
          <p:nvPr/>
        </p:nvSpPr>
        <p:spPr>
          <a:xfrm>
            <a:off x="7461171" y="13046393"/>
            <a:ext cx="3774400" cy="1284089"/>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Speed:</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Free or overloaded proxies can significantly slow down your connection.</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Security Risks: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Since the proxy handles your data, a malicious proxy provider could potentially log, track, or even modify your traffic.</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Lack of Encryption:</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Unlike a VPN, many basic web proxies do not encrypt your traffic between your browser and the proxy server.</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Compatibility: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Some proxies only work with web traffic (HTTP/HTTPS) and cannot handle other protocols.</a:t>
            </a:r>
            <a:endParaRPr lang="en-US" sz="850" dirty="0"/>
          </a:p>
        </p:txBody>
      </p:sp>
      <p:sp>
        <p:nvSpPr>
          <p:cNvPr id="73" name="Text 71"/>
          <p:cNvSpPr/>
          <p:nvPr/>
        </p:nvSpPr>
        <p:spPr>
          <a:xfrm>
            <a:off x="7461171" y="14387155"/>
            <a:ext cx="2353151" cy="177165"/>
          </a:xfrm>
          <a:prstGeom prst="rect">
            <a:avLst/>
          </a:prstGeom>
          <a:noFill/>
          <a:ln/>
        </p:spPr>
        <p:txBody>
          <a:bodyPr wrap="none" lIns="0" tIns="0" rIns="0" bIns="0" rtlCol="0" anchor="t"/>
          <a:lstStyle/>
          <a:p>
            <a:pPr algn="l" indent="0" marL="0">
              <a:lnSpc>
                <a:spcPts val="1350"/>
              </a:lnSpc>
              <a:buNone/>
            </a:pPr>
            <a:r>
              <a:rPr lang="en-US" sz="1100" dirty="0">
                <a:solidFill>
                  <a:srgbClr val="272D45"/>
                </a:solidFill>
                <a:latin typeface="Kanit Light" pitchFamily="34" charset="0"/>
                <a:ea typeface="Kanit Light" pitchFamily="34" charset="-122"/>
                <a:cs typeface="Kanit Light" pitchFamily="34" charset="-120"/>
              </a:rPr>
              <a:t>What Type of Privacy Does it Provide?</a:t>
            </a:r>
            <a:endParaRPr lang="en-US" sz="1100" dirty="0"/>
          </a:p>
        </p:txBody>
      </p:sp>
      <p:sp>
        <p:nvSpPr>
          <p:cNvPr id="74" name="Text 72"/>
          <p:cNvSpPr/>
          <p:nvPr/>
        </p:nvSpPr>
        <p:spPr>
          <a:xfrm>
            <a:off x="7461171" y="14620994"/>
            <a:ext cx="3774400" cy="272177"/>
          </a:xfrm>
          <a:prstGeom prst="rect">
            <a:avLst/>
          </a:prstGeom>
          <a:noFill/>
          <a:ln/>
        </p:spPr>
        <p:txBody>
          <a:bodyPr wrap="square" lIns="0" tIns="0" rIns="0" bIns="0" rtlCol="0" anchor="t"/>
          <a:lstStyle/>
          <a:p>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It is important to understand that a proxy is not a privacy silver bullet.</a:t>
            </a:r>
            <a:endParaRPr lang="en-US" sz="850" dirty="0"/>
          </a:p>
        </p:txBody>
      </p:sp>
      <p:sp>
        <p:nvSpPr>
          <p:cNvPr id="75" name="Text 73"/>
          <p:cNvSpPr/>
          <p:nvPr/>
        </p:nvSpPr>
        <p:spPr>
          <a:xfrm>
            <a:off x="7461171" y="14944130"/>
            <a:ext cx="3774400" cy="1556266"/>
          </a:xfrm>
          <a:prstGeom prst="rect">
            <a:avLst/>
          </a:prstGeom>
          <a:noFill/>
          <a:ln/>
        </p:spPr>
        <p:txBody>
          <a:bodyPr wrap="square" lIns="0" tIns="0" rIns="0" bIns="0" rtlCol="0" anchor="t"/>
          <a:lstStyle/>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IP Masking:</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Yes, it hides your public IP address from the destination website.</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No Full Privacy:</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Your ISP can still see that you are connecting to a proxy server (unless you are also using a VPN or HTTPS).</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Data Exposure:</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Because many proxies don't offer end-to-end encryption, your data may be exposed to the proxy operator or anyone sniffing the connection between you and the proxy.</a:t>
            </a:r>
            <a:endParaRPr lang="en-US" sz="850" dirty="0"/>
          </a:p>
          <a:p>
            <a:pPr algn="l" marL="342900" indent="-342900">
              <a:lnSpc>
                <a:spcPts val="1050"/>
              </a:lnSpc>
              <a:buSzPct val="100000"/>
              <a:buChar char="•"/>
            </a:pPr>
            <a:r>
              <a:rPr lang="en-US" sz="850" b="1" dirty="0">
                <a:solidFill>
                  <a:srgbClr val="2C3249"/>
                </a:solidFill>
                <a:latin typeface="Martel Sans" pitchFamily="34" charset="0"/>
                <a:ea typeface="Martel Sans" pitchFamily="34" charset="-122"/>
                <a:cs typeface="Martel Sans" pitchFamily="34" charset="-120"/>
              </a:rPr>
              <a:t>Not for Sensitive Tasks:</a:t>
            </a:r>
            <a:pPr algn="l" indent="0" marL="0">
              <a:lnSpc>
                <a:spcPts val="1050"/>
              </a:lnSpc>
              <a:buNone/>
            </a:pPr>
            <a:r>
              <a:rPr lang="en-US" sz="850" dirty="0">
                <a:solidFill>
                  <a:srgbClr val="2C3249"/>
                </a:solidFill>
                <a:latin typeface="Martel Sans" pitchFamily="34" charset="0"/>
                <a:ea typeface="Martel Sans" pitchFamily="34" charset="-122"/>
                <a:cs typeface="Martel Sans" pitchFamily="34" charset="-120"/>
              </a:rPr>
              <a:t> Avoid using standard proxies for banking, logging into private accounts, or anything involving sensitive credentials, as the proxy provider is essentially an "in-the-middle" party.</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2026-03-09T04:13:03Z</dcterms:created>
  <dcterms:modified xsi:type="dcterms:W3CDTF">2026-03-09T04:13:03Z</dcterms:modified>
</cp:coreProperties>
</file>